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3774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2011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 Super-Linear Synergy Between Format Augmentation</a:t>
            </a:r>
          </a:p>
          <a:p>
            <a:r>
              <a:rPr sz="3600" b="1">
                <a:solidFill>
                  <a:srgbClr val="FFFFFF"/>
                </a:solidFill>
                <a:latin typeface="Calibri"/>
              </a:rPr>
              <a:t>and KL Preservation in Continual LoRA Knowledge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2200" i="1">
                <a:solidFill>
                  <a:srgbClr val="232A33"/>
                </a:solidFill>
                <a:latin typeface="Calibri"/>
              </a:rPr>
              <a:t>Knowledge Integration in Task-Tuned Financial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406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1800">
                <a:solidFill>
                  <a:srgbClr val="232A33"/>
                </a:solidFill>
                <a:latin typeface="Calibri"/>
              </a:rPr>
              <a:t>Jeremiah Mao   ·   Mateo Juliani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1400">
                <a:solidFill>
                  <a:srgbClr val="5C6670"/>
                </a:solidFill>
                <a:latin typeface="Calibri"/>
              </a:rPr>
              <a:t>COMS 6998   ·   Columbia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1">
                <a:solidFill>
                  <a:srgbClr val="1F4E90"/>
                </a:solidFill>
                <a:latin typeface="Calibri"/>
              </a:rPr>
              <a:t>•  </a:t>
            </a:r>
            <a:r>
              <a:rPr sz="2000">
                <a:solidFill>
                  <a:srgbClr val="232A33"/>
                </a:solidFill>
                <a:latin typeface="Calibri"/>
              </a:rPr>
              <a:t>Models go stale post-deployment. Knowledge cutoffs are fixed; the world is not.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1">
                <a:solidFill>
                  <a:srgbClr val="1F4E90"/>
                </a:solidFill>
                <a:latin typeface="Calibri"/>
              </a:rPr>
              <a:t>•  </a:t>
            </a:r>
            <a:r>
              <a:rPr sz="2000">
                <a:solidFill>
                  <a:srgbClr val="232A33"/>
                </a:solidFill>
                <a:latin typeface="Calibri"/>
              </a:rPr>
              <a:t>News-driven domains (finance, current events) require continuous fact updates.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1">
                <a:solidFill>
                  <a:srgbClr val="1F4E90"/>
                </a:solidFill>
                <a:latin typeface="Calibri"/>
              </a:rPr>
              <a:t>•  </a:t>
            </a:r>
            <a:r>
              <a:rPr sz="2000">
                <a:solidFill>
                  <a:srgbClr val="232A33"/>
                </a:solidFill>
                <a:latin typeface="Calibri"/>
              </a:rPr>
              <a:t>Deployed models are typically task-tuned (e.g., for query decomposition, classification, code, RAG).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1">
                <a:solidFill>
                  <a:srgbClr val="1F4E90"/>
                </a:solidFill>
                <a:latin typeface="Calibri"/>
              </a:rPr>
              <a:t>•  </a:t>
            </a:r>
            <a:r>
              <a:rPr sz="2000">
                <a:solidFill>
                  <a:srgbClr val="232A33"/>
                </a:solidFill>
                <a:latin typeface="Calibri"/>
              </a:rPr>
              <a:t>Naïve fine-tuning to ingest new facts breaks the underlying task. Editing methods can preserve task ability but often fail to make new facts available across formats.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1">
                <a:solidFill>
                  <a:srgbClr val="1F4E90"/>
                </a:solidFill>
                <a:latin typeface="Calibri"/>
              </a:rPr>
              <a:t>•  </a:t>
            </a:r>
            <a:r>
              <a:rPr sz="2000">
                <a:solidFill>
                  <a:srgbClr val="232A33"/>
                </a:solidFill>
                <a:latin typeface="Calibri"/>
              </a:rPr>
              <a:t>Goal: a continual update procedure that is cheap, behavioral, and preserves the task while injecting facts that surface across prompt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Task: Financial Query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1800">
                <a:solidFill>
                  <a:srgbClr val="232A33"/>
                </a:solidFill>
                <a:latin typeface="Calibri"/>
              </a:rPr>
              <a:t>User question →  the model emits 2-4 retrieval sub-queries  →  each sub-query is run against a document index.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1600" b="1">
                <a:solidFill>
                  <a:srgbClr val="1F4E90"/>
                </a:solidFill>
                <a:latin typeface="Calibri"/>
              </a:rPr>
              <a:t>User question:  </a:t>
            </a:r>
            <a:r>
              <a:rPr sz="1600">
                <a:solidFill>
                  <a:srgbClr val="232A33"/>
                </a:solidFill>
                <a:latin typeface="Calibri"/>
              </a:rPr>
              <a:t>"How is MCD performing vs competitors?"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40680" cy="3840480"/>
          </a:xfrm>
          <a:prstGeom prst="rect">
            <a:avLst/>
          </a:prstGeom>
          <a:solidFill>
            <a:srgbClr val="F7F9FC"/>
          </a:solidFill>
          <a:ln w="12700">
            <a:solidFill>
              <a:srgbClr val="CFD8E3"/>
            </a:solidFill>
          </a:ln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1F4E90"/>
                </a:solidFill>
                <a:latin typeface="Calibri"/>
              </a:rPr>
              <a:t>Pre-2022 (training cutoff)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F4E90"/>
                </a:solidFill>
                <a:latin typeface="Calibri"/>
              </a:rPr>
              <a:t>•  </a:t>
            </a:r>
            <a:r>
              <a:rPr sz="1400">
                <a:solidFill>
                  <a:srgbClr val="232A33"/>
                </a:solidFill>
                <a:latin typeface="Calibri"/>
              </a:rPr>
              <a:t>"MCD same-store sales growth vs Wendy's 2021"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F4E90"/>
                </a:solidFill>
                <a:latin typeface="Calibri"/>
              </a:rPr>
              <a:t>•  </a:t>
            </a:r>
            <a:r>
              <a:rPr sz="1400">
                <a:solidFill>
                  <a:srgbClr val="232A33"/>
                </a:solidFill>
                <a:latin typeface="Calibri"/>
              </a:rPr>
              <a:t>"Impact of 2021 restaurant labor shortages on MCD operating margins vs competitors"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F4E90"/>
                </a:solidFill>
                <a:latin typeface="Calibri"/>
              </a:rPr>
              <a:t>•  </a:t>
            </a:r>
            <a:r>
              <a:rPr sz="1400">
                <a:solidFill>
                  <a:srgbClr val="232A33"/>
                </a:solidFill>
                <a:latin typeface="Calibri"/>
              </a:rPr>
              <a:t>"Growth of delivery app and drive-thru sales for MCD in 2021"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F4E90"/>
                </a:solidFill>
                <a:latin typeface="Calibri"/>
              </a:rPr>
              <a:t>•  </a:t>
            </a:r>
            <a:r>
              <a:rPr sz="1400">
                <a:solidFill>
                  <a:srgbClr val="232A33"/>
                </a:solidFill>
                <a:latin typeface="Calibri"/>
              </a:rPr>
              <a:t>"Performance of the MCD BTS meal and celebrity partnerships vs competitor marketing"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286000"/>
            <a:ext cx="5440680" cy="3840480"/>
          </a:xfrm>
          <a:prstGeom prst="rect">
            <a:avLst/>
          </a:prstGeom>
          <a:solidFill>
            <a:srgbClr val="FDF7EF"/>
          </a:solidFill>
          <a:ln w="12700">
            <a:solidFill>
              <a:srgbClr val="E8C89C"/>
            </a:solidFill>
          </a:ln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Calibri"/>
              </a:rPr>
              <a:t>Post-2022 (new facts the model needs to learn)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C0392B"/>
                </a:solidFill>
                <a:latin typeface="Calibri"/>
              </a:rPr>
              <a:t>•  </a:t>
            </a:r>
            <a:r>
              <a:rPr sz="1400">
                <a:solidFill>
                  <a:srgbClr val="232A33"/>
                </a:solidFill>
                <a:latin typeface="Calibri"/>
              </a:rPr>
              <a:t>"MCD same-store sales growth vs Wendy's 2026"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C0392B"/>
                </a:solidFill>
                <a:latin typeface="Calibri"/>
              </a:rPr>
              <a:t>•  </a:t>
            </a:r>
            <a:r>
              <a:rPr sz="1400">
                <a:solidFill>
                  <a:srgbClr val="232A33"/>
                </a:solidFill>
                <a:latin typeface="Calibri"/>
              </a:rPr>
              <a:t>"ROI and foot traffic impact of MCD's 2026 value meal promotions vs competitor discounts"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C0392B"/>
                </a:solidFill>
                <a:latin typeface="Calibri"/>
              </a:rPr>
              <a:t>•  </a:t>
            </a:r>
            <a:r>
              <a:rPr sz="1400">
                <a:solidFill>
                  <a:srgbClr val="232A33"/>
                </a:solidFill>
                <a:latin typeface="Calibri"/>
              </a:rPr>
              <a:t>"Cost savings from MCD's AI drive-thru ordering and kitchen automation vs competitors 2026"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C0392B"/>
                </a:solidFill>
                <a:latin typeface="Calibri"/>
              </a:rPr>
              <a:t>•  </a:t>
            </a:r>
            <a:r>
              <a:rPr sz="1400">
                <a:solidFill>
                  <a:srgbClr val="232A33"/>
                </a:solidFill>
                <a:latin typeface="Calibri"/>
              </a:rPr>
              <a:t>"Impact of GLP-1 weight-loss drugs on MCD and fast-food sales volumes 2026"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Absorption-Integration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212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1">
                <a:solidFill>
                  <a:srgbClr val="1F4E90"/>
                </a:solidFill>
                <a:latin typeface="Calibri"/>
              </a:rPr>
              <a:t>•  </a:t>
            </a:r>
            <a:r>
              <a:rPr sz="2000">
                <a:solidFill>
                  <a:srgbClr val="232A33"/>
                </a:solidFill>
                <a:latin typeface="Calibri"/>
              </a:rPr>
              <a:t>Naïve fine-tuning on the new fact in QA format → the model can produce the answer when asked in QA format …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1">
                <a:solidFill>
                  <a:srgbClr val="1F4E90"/>
                </a:solidFill>
                <a:latin typeface="Calibri"/>
              </a:rPr>
              <a:t>•  </a:t>
            </a:r>
            <a:r>
              <a:rPr sz="2000">
                <a:solidFill>
                  <a:srgbClr val="232A33"/>
                </a:solidFill>
                <a:latin typeface="Calibri"/>
              </a:rPr>
              <a:t>… but fails to surface the same fact under a QD prompt or other downstream formats. Facts are stored as format-coupled token patterns, not as entity-anchored knowledge.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1">
                <a:solidFill>
                  <a:srgbClr val="1F4E90"/>
                </a:solidFill>
                <a:latin typeface="Calibri"/>
              </a:rPr>
              <a:t>•  </a:t>
            </a:r>
            <a:r>
              <a:rPr sz="2000">
                <a:solidFill>
                  <a:srgbClr val="232A33"/>
                </a:solidFill>
                <a:latin typeface="Calibri"/>
              </a:rPr>
              <a:t>Format gap = | F1(QA) − F1(QD) |  on the same probe questions wrapped two ways.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1">
                <a:solidFill>
                  <a:srgbClr val="1F4E90"/>
                </a:solidFill>
                <a:latin typeface="Calibri"/>
              </a:rPr>
              <a:t>•  </a:t>
            </a:r>
            <a:r>
              <a:rPr sz="2000">
                <a:solidFill>
                  <a:srgbClr val="232A33"/>
                </a:solidFill>
                <a:latin typeface="Calibri"/>
              </a:rPr>
              <a:t>Across single-environment update methods, the gap sits at 0.07–0.14 F1 — every method that meaningfully absorbs leaves a gap of this magnitude.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1">
                <a:solidFill>
                  <a:srgbClr val="1F4E90"/>
                </a:solidFill>
                <a:latin typeface="Calibri"/>
              </a:rPr>
              <a:t>•  </a:t>
            </a:r>
            <a:r>
              <a:rPr sz="2000">
                <a:solidFill>
                  <a:srgbClr val="232A33"/>
                </a:solidFill>
                <a:latin typeface="Calibri"/>
              </a:rPr>
              <a:t>Closing the gap is the central question of this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Setup: a real industrial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303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800" b="1">
                <a:solidFill>
                  <a:srgbClr val="1F4E90"/>
                </a:solidFill>
                <a:latin typeface="Calibri"/>
              </a:rPr>
              <a:t>•  </a:t>
            </a:r>
            <a:r>
              <a:rPr sz="1800">
                <a:solidFill>
                  <a:srgbClr val="232A33"/>
                </a:solidFill>
                <a:latin typeface="Calibri"/>
              </a:rPr>
              <a:t>Backbone: Qwen3-4B-Instruct-2507, LoRA-tuned (r=32 / α=64) on FNSPID financial news, pre-2022 cutoff.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800" b="1">
                <a:solidFill>
                  <a:srgbClr val="1F4E90"/>
                </a:solidFill>
                <a:latin typeface="Calibri"/>
              </a:rPr>
              <a:t>•  </a:t>
            </a:r>
            <a:r>
              <a:rPr sz="1800">
                <a:solidFill>
                  <a:srgbClr val="232A33"/>
                </a:solidFill>
                <a:latin typeface="Calibri"/>
              </a:rPr>
              <a:t>Update layer: LoRA r=16 / α=32 on attention Q/K/V/O + MLP up/down/gate.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800" b="1">
                <a:solidFill>
                  <a:srgbClr val="1F4E90"/>
                </a:solidFill>
                <a:latin typeface="Calibri"/>
              </a:rPr>
              <a:t>•  </a:t>
            </a:r>
            <a:r>
              <a:rPr sz="1800">
                <a:solidFill>
                  <a:srgbClr val="232A33"/>
                </a:solidFill>
                <a:latin typeface="Calibri"/>
              </a:rPr>
              <a:t>Continual stream: 15 sequential rounds × 200 disjoint fact triples per round (3000 facts total). Round k chains from round k-1's merged model.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800" b="1">
                <a:solidFill>
                  <a:srgbClr val="1F4E90"/>
                </a:solidFill>
                <a:latin typeface="Calibri"/>
              </a:rPr>
              <a:t>•  </a:t>
            </a:r>
            <a:r>
              <a:rPr sz="1800">
                <a:solidFill>
                  <a:srgbClr val="232A33"/>
                </a:solidFill>
                <a:latin typeface="Calibri"/>
              </a:rPr>
              <a:t>This setting matches the dominant industrial fine-tuning pattern: LoRA + LoRA is the customer-facing primitive on AWS Bedrock, Together AI, Fireworks, and Vertex AI's open-model garden (HuggingFace PEFT, QLoRA).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800" b="1">
                <a:solidFill>
                  <a:srgbClr val="1F4E90"/>
                </a:solidFill>
                <a:latin typeface="Calibri"/>
              </a:rPr>
              <a:t>•  </a:t>
            </a:r>
            <a:r>
              <a:rPr sz="1800">
                <a:solidFill>
                  <a:srgbClr val="232A33"/>
                </a:solidFill>
                <a:latin typeface="Calibri"/>
              </a:rPr>
              <a:t>All evaluation is behavioral (token-F1 of greedy generation against gold), not geometric — we found across the COPR family that hidden-state cosine proximity does not predict cross-format behavioral availability.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CFD8E3"/>
            </a:solidFill>
          </a:ln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0F2A57"/>
                </a:solidFill>
                <a:latin typeface="Calibri"/>
              </a:rPr>
              <a:t>Can a simple loss-side composition close the absorption-</a:t>
            </a:r>
          </a:p>
          <a:p>
            <a:pPr algn="ctr"/>
            <a:r>
              <a:rPr sz="3000" b="1">
                <a:solidFill>
                  <a:srgbClr val="0F2A57"/>
                </a:solidFill>
                <a:latin typeface="Calibri"/>
              </a:rPr>
              <a:t>integration gap during continual LoRA editing?</a:t>
            </a:r>
          </a:p>
          <a:p>
            <a:pPr algn="ctr">
              <a:spcBef>
                <a:spcPts val="2000"/>
              </a:spcBef>
            </a:pPr>
            <a:r>
              <a:rPr sz="1800" i="1">
                <a:solidFill>
                  <a:srgbClr val="5C6670"/>
                </a:solidFill>
                <a:latin typeface="Calibri"/>
              </a:rPr>
              <a:t>Specifically: how should we compose data-side augmentation</a:t>
            </a:r>
          </a:p>
          <a:p>
            <a:pPr algn="ctr"/>
            <a:r>
              <a:rPr sz="1800" i="1">
                <a:solidFill>
                  <a:srgbClr val="5C6670"/>
                </a:solidFill>
                <a:latin typeface="Calibri"/>
              </a:rPr>
              <a:t>with a policy-preservation regularizer?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Methods Tested: a 2×2 ablation + symmetric extension + COPR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1400">
                <a:solidFill>
                  <a:srgbClr val="5C6670"/>
                </a:solidFill>
                <a:latin typeface="Calibri"/>
              </a:rPr>
              <a:t>K=5 paraphrastic injection (Allen-Zhu &amp; Li 2023) renders each fact in 5 surface forms (QA, QD, declarative, instruction, narrative).  KL preservation anchors against a per-round frozen reference.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468880"/>
                <a:gridCol w="3749039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Injection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Preservation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(a)  naive_sft</a:t>
                      </a: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K=1 (QA only)</a:t>
                      </a: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Vanilla fine-tuning baseline</a:t>
                      </a:r>
                    </a:p>
                  </a:txBody>
                  <a:tcPr marL="54864" marR="54864" marT="36576" marB="36576" anchor="ctr"/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(b)  aug_sft_k5</a:t>
                      </a: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K=5 paraphrastic</a:t>
                      </a: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Augmentation alone — Allen-Zhu replication</a:t>
                      </a:r>
                    </a:p>
                  </a:txBody>
                  <a:tcPr marL="54864" marR="54864" marT="36576" marB="36576" anchor="ctr"/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(c)  kl_reg_sft</a:t>
                      </a: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K=1 (QA only)</a:t>
                      </a: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K=1 KL on replay</a:t>
                      </a: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Standard policy-preservation baseline</a:t>
                      </a:r>
                    </a:p>
                  </a:txBody>
                  <a:tcPr marL="54864" marR="54864" marT="36576" marB="36576" anchor="ctr"/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32A33"/>
                          </a:solidFill>
                          <a:latin typeface="Calibri"/>
                        </a:rPr>
                        <a:t>(d)  aug_kl_k1</a:t>
                      </a:r>
                    </a:p>
                  </a:txBody>
                  <a:tcPr marL="54864" marR="54864" marT="36576" marB="36576" anchor="ctr">
                    <a:solidFill>
                      <a:srgbClr val="E8F2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32A33"/>
                          </a:solidFill>
                          <a:latin typeface="Calibri"/>
                        </a:rPr>
                        <a:t>K=5 paraphrastic</a:t>
                      </a:r>
                    </a:p>
                  </a:txBody>
                  <a:tcPr marL="54864" marR="54864" marT="36576" marB="36576" anchor="ctr">
                    <a:solidFill>
                      <a:srgbClr val="E8F2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32A33"/>
                          </a:solidFill>
                          <a:latin typeface="Calibri"/>
                        </a:rPr>
                        <a:t>K=1 KL on replay</a:t>
                      </a:r>
                    </a:p>
                  </a:txBody>
                  <a:tcPr marL="54864" marR="54864" marT="36576" marB="36576" anchor="ctr">
                    <a:solidFill>
                      <a:srgbClr val="E8F2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32A33"/>
                          </a:solidFill>
                          <a:latin typeface="Calibri"/>
                        </a:rPr>
                        <a:t>★ The combination — the synergy winner</a:t>
                      </a:r>
                    </a:p>
                  </a:txBody>
                  <a:tcPr marL="54864" marR="54864" marT="36576" marB="36576" anchor="ctr">
                    <a:solidFill>
                      <a:srgbClr val="E8F2E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(e)  dsae_lite</a:t>
                      </a: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K=5 paraphrastic</a:t>
                      </a: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K=5 KL framings</a:t>
                      </a: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A33"/>
                          </a:solidFill>
                          <a:latin typeface="Calibri"/>
                        </a:rPr>
                        <a:t>Symmetric extension we tested</a:t>
                      </a:r>
                    </a:p>
                  </a:txBody>
                  <a:tcPr marL="54864" marR="54864" marT="36576" marB="36576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1400">
                <a:solidFill>
                  <a:srgbClr val="232A33"/>
                </a:solidFill>
                <a:latin typeface="Calibri"/>
              </a:rPr>
              <a:t>Plus the COPR family (preference-style baselines): plain copr, copr_gold_injection, copr_gold_injection_anchored, copr_anchored.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5C6670"/>
                </a:solidFill>
                <a:latin typeface="Calibri"/>
              </a:rPr>
              <a:t>Sequential editing: 15 rounds × 200 facts × 2 seeds for new conditions; condition (c) reused from prior phases at 1 seed as calibration.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Headline Result: a 4.93× super-linear synergy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5852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645920"/>
                <a:gridCol w="1645920"/>
                <a:gridCol w="128016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no KL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K=1 KL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54864" marR="54864" marT="36576" marB="36576" anchor="ctr">
                    <a:solidFill>
                      <a:srgbClr val="1F4E9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K=1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0.089
(a)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0.118
(c)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5C6670"/>
                          </a:solidFill>
                          <a:latin typeface="Calibri"/>
                        </a:rPr>
                        <a:t>+0.029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K=5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0.125
(b)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>
                          <a:solidFill>
                            <a:srgbClr val="1F8E4F"/>
                          </a:solidFill>
                          <a:latin typeface="Calibri"/>
                        </a:rPr>
                        <a:t>0.411
(d)  ★</a:t>
                      </a:r>
                    </a:p>
                  </a:txBody>
                  <a:tcPr marL="54864" marR="54864" marT="36576" marB="36576" anchor="ctr">
                    <a:solidFill>
                      <a:srgbClr val="E8F2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F8E4F"/>
                          </a:solidFill>
                          <a:latin typeface="Calibri"/>
                        </a:rPr>
                        <a:t>+0.286</a:t>
                      </a:r>
                    </a:p>
                  </a:txBody>
                  <a:tcPr marL="54864" marR="54864" marT="36576" marB="36576" anchor="ctr">
                    <a:solidFill>
                      <a:srgbClr val="E8F2E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54864" marR="54864" marT="36576" marB="36576" anchor="ctr">
                    <a:solidFill>
                      <a:srgbClr val="1F4E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5C6670"/>
                          </a:solidFill>
                          <a:latin typeface="Calibri"/>
                        </a:rPr>
                        <a:t>+0.036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F8E4F"/>
                          </a:solidFill>
                          <a:latin typeface="Calibri"/>
                        </a:rPr>
                        <a:t>+0.293</a:t>
                      </a:r>
                    </a:p>
                  </a:txBody>
                  <a:tcPr marL="54864" marR="54864" marT="36576" marB="36576" anchor="ctr">
                    <a:solidFill>
                      <a:srgbClr val="E8F2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49039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1200" i="1">
                <a:solidFill>
                  <a:srgbClr val="5C6670"/>
                </a:solidFill>
                <a:latin typeface="Calibri"/>
              </a:rPr>
              <a:t>Round-15 absorption F1 across the 2×2 ablation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280160"/>
            <a:ext cx="4937760" cy="4572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2200" b="1">
                <a:solidFill>
                  <a:srgbClr val="0F2A57"/>
                </a:solidFill>
                <a:latin typeface="Calibri"/>
              </a:rPr>
              <a:t>The synergy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32A33"/>
                </a:solidFill>
                <a:latin typeface="Calibri"/>
              </a:rPr>
              <a:t>K=5 augmentation alone:  </a:t>
            </a:r>
            <a:r>
              <a:rPr sz="2200" b="1">
                <a:solidFill>
                  <a:srgbClr val="1F4E90"/>
                </a:solidFill>
                <a:latin typeface="Calibri"/>
              </a:rPr>
              <a:t>+0.036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32A33"/>
                </a:solidFill>
                <a:latin typeface="Calibri"/>
              </a:rPr>
              <a:t>K=1 KL preservation alone:  </a:t>
            </a:r>
            <a:r>
              <a:rPr sz="2200" b="1">
                <a:solidFill>
                  <a:srgbClr val="1F4E90"/>
                </a:solidFill>
                <a:latin typeface="Calibri"/>
              </a:rPr>
              <a:t>+0.029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32A33"/>
                </a:solidFill>
                <a:latin typeface="Calibri"/>
              </a:rPr>
              <a:t>Both combined:  </a:t>
            </a:r>
            <a:r>
              <a:rPr sz="2200" b="1">
                <a:solidFill>
                  <a:srgbClr val="1F8E4F"/>
                </a:solidFill>
                <a:latin typeface="Calibri"/>
              </a:rPr>
              <a:t>+0.322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32A33"/>
                </a:solidFill>
                <a:latin typeface="Calibri"/>
              </a:rPr>
              <a:t>Additive prediction:  </a:t>
            </a:r>
            <a:r>
              <a:rPr sz="2200" b="1">
                <a:solidFill>
                  <a:srgbClr val="5C6670"/>
                </a:solidFill>
                <a:latin typeface="Calibri"/>
              </a:rPr>
              <a:t>+0.065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32A33"/>
                </a:solidFill>
                <a:latin typeface="Calibri"/>
              </a:rPr>
              <a:t>Synergy ratio:  </a:t>
            </a:r>
            <a:r>
              <a:rPr sz="2200" b="1">
                <a:solidFill>
                  <a:srgbClr val="1F8E4F"/>
                </a:solidFill>
                <a:latin typeface="Calibri"/>
              </a:rPr>
              <a:t>4.93×</a:t>
            </a:r>
          </a:p>
          <a:p>
            <a:pPr>
              <a:spcBef>
                <a:spcPts val="1800"/>
              </a:spcBef>
            </a:pPr>
            <a:r>
              <a:rPr sz="1500" i="1">
                <a:solidFill>
                  <a:srgbClr val="5C6670"/>
                </a:solidFill>
                <a:latin typeface="Calibri"/>
              </a:rPr>
              <a:t>The cross-coupling is the active mechanism — not either ingredient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Is the synergy real or just data volume? Compute-matched contrasts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1600">
                <a:solidFill>
                  <a:srgbClr val="232A33"/>
                </a:solidFill>
                <a:latin typeface="Calibri"/>
              </a:rPr>
              <a:t>K=5 conditions see 5× the per-round training data, so the marginal (b) − (a) is data-confounded. Holding the data-volume axis fixed and toggling KL gives the clean comparison.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64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377440"/>
                <a:gridCol w="2377440"/>
                <a:gridCol w="26517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Contrast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Data volume held at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Δ abs F1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Effect of adding KL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32A33"/>
                          </a:solidFill>
                          <a:latin typeface="Calibri"/>
                        </a:rPr>
                        <a:t>(c) − (a):  KL added on top of K=1 data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32A33"/>
                          </a:solidFill>
                          <a:latin typeface="Calibri"/>
                        </a:rPr>
                        <a:t>K=1 (200 entries / round)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>
                          <a:solidFill>
                            <a:srgbClr val="1F4E90"/>
                          </a:solidFill>
                          <a:latin typeface="Calibri"/>
                        </a:rPr>
                        <a:t>+0.029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1">
                          <a:solidFill>
                            <a:srgbClr val="5C6670"/>
                          </a:solidFill>
                          <a:latin typeface="Calibri"/>
                        </a:rPr>
                        <a:t>small lift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232A33"/>
                          </a:solidFill>
                          <a:latin typeface="Calibri"/>
                        </a:rPr>
                        <a:t>(d) − (b):  KL added on top of K=5 data</a:t>
                      </a:r>
                    </a:p>
                  </a:txBody>
                  <a:tcPr marL="54864" marR="54864" marT="36576" marB="36576" anchor="ctr">
                    <a:solidFill>
                      <a:srgbClr val="E8F2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32A33"/>
                          </a:solidFill>
                          <a:latin typeface="Calibri"/>
                        </a:rPr>
                        <a:t>K=5 (1000 entries / round)</a:t>
                      </a:r>
                    </a:p>
                  </a:txBody>
                  <a:tcPr marL="54864" marR="54864" marT="36576" marB="36576" anchor="ctr">
                    <a:solidFill>
                      <a:srgbClr val="E8F2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i="0">
                          <a:solidFill>
                            <a:srgbClr val="1F8E4F"/>
                          </a:solidFill>
                          <a:latin typeface="Calibri"/>
                        </a:rPr>
                        <a:t>+0.286</a:t>
                      </a:r>
                    </a:p>
                  </a:txBody>
                  <a:tcPr marL="54864" marR="54864" marT="36576" marB="36576" anchor="ctr">
                    <a:solidFill>
                      <a:srgbClr val="E8F2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8E4F"/>
                          </a:solidFill>
                          <a:latin typeface="Calibri"/>
                        </a:rPr>
                        <a:t>10× larger</a:t>
                      </a:r>
                    </a:p>
                  </a:txBody>
                  <a:tcPr marL="54864" marR="54864" marT="36576" marB="36576" anchor="ctr">
                    <a:solidFill>
                      <a:srgbClr val="E8F2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1600">
                <a:solidFill>
                  <a:srgbClr val="232A33"/>
                </a:solidFill>
                <a:latin typeface="Calibri"/>
              </a:rPr>
              <a:t>The interaction is sharp regardless of which compute-matched slice you read: KL preservation is ~10× more effective when paired with K=5 augmentation than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Guardrails: the lift is not bought through task degradation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1500">
                <a:solidFill>
                  <a:srgbClr val="232A33"/>
                </a:solidFill>
                <a:latin typeface="Calibri"/>
              </a:rPr>
              <a:t>Preservation R@10 (does the model still emit useful QD sub-queries?) and locality F1 (do unrelated facts degrade?) are stable across all five conditions.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2743200"/>
                <a:gridCol w="33832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Preservation R@10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Locality F1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54864" marR="54864" marT="36576" marB="36576" anchor="ctr">
                    <a:solidFill>
                      <a:srgbClr val="0F2A5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(a)  naive_sft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0.243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0.046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(b)  aug_sft_k5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0.267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0.071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no degradation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(c)  kl_reg_sft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0.240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0.048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no degradation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(d)  aug_kl_k1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0.237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0.079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no degradation</a:t>
                      </a:r>
                    </a:p>
                  </a:txBody>
                  <a:tcPr marL="54864" marR="54864" marT="36576" marB="36576" anchor="ctr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(e)  dsae_lite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0.236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0.080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32A33"/>
                          </a:solidFill>
                          <a:latin typeface="Calibri"/>
                        </a:rPr>
                        <a:t>no degradation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1500">
                <a:solidFill>
                  <a:srgbClr val="232A33"/>
                </a:solidFill>
                <a:latin typeface="Calibri"/>
              </a:rPr>
              <a:t>Spread on each guardrail axis is ~0.03 — the absorption signal (~0.32 spread) is an order of magnitude larger than any task-degradation or off-target effect.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negative results that constrain the design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212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90"/>
                </a:solidFill>
                <a:latin typeface="Calibri"/>
              </a:rPr>
              <a:t>•  </a:t>
            </a:r>
            <a:r>
              <a:rPr sz="1600">
                <a:solidFill>
                  <a:srgbClr val="232A33"/>
                </a:solidFill>
                <a:latin typeface="Calibri"/>
              </a:rPr>
              <a:t>COPR (continual preference alignment) does not port to fact injection.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90"/>
                </a:solidFill>
                <a:latin typeface="Calibri"/>
              </a:rPr>
              <a:t>–  </a:t>
            </a:r>
            <a:r>
              <a:rPr sz="1600">
                <a:solidFill>
                  <a:srgbClr val="232A33"/>
                </a:solidFill>
                <a:latin typeface="Calibri"/>
              </a:rPr>
              <a:t>kl_reg_sft wins absorption against copr_gold_injection in 11 of 14 contested rounds; COPR's K=8 self-samples on a novel fact land below a usable F1 threshold (the K-sample-all-wrong pathology), and the natural patch (gold injection) collapses the method toward cross-entropy at 10–12× per-round compute.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90"/>
                </a:solidFill>
                <a:latin typeface="Calibri"/>
              </a:rPr>
              <a:t>•  </a:t>
            </a:r>
            <a:r>
              <a:rPr sz="1600">
                <a:solidFill>
                  <a:srgbClr val="232A33"/>
                </a:solidFill>
                <a:latin typeface="Calibri"/>
              </a:rPr>
              <a:t>V-REx at K=2 prompt formats is theoretically degenerate.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90"/>
                </a:solidFill>
                <a:latin typeface="Calibri"/>
              </a:rPr>
              <a:t>–  </a:t>
            </a:r>
            <a:r>
              <a:rPr sz="1600">
                <a:solidFill>
                  <a:srgbClr val="232A33"/>
                </a:solidFill>
                <a:latin typeface="Calibri"/>
              </a:rPr>
              <a:t>IRM-family penalties require ≥3 environments (Arjovsky 2019; Rosenfeld 2021; Ahuja 2021); at K=2 the variance term reduces to a pairwise scalar consistency satisfiable by any equalizing solution. Empirically: +0.014 QD F1 within run-to-run noise.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90"/>
                </a:solidFill>
                <a:latin typeface="Calibri"/>
              </a:rPr>
              <a:t>•  </a:t>
            </a:r>
            <a:r>
              <a:rPr sz="1600">
                <a:solidFill>
                  <a:srgbClr val="232A33"/>
                </a:solidFill>
                <a:latin typeface="Calibri"/>
              </a:rPr>
              <a:t>Format diversity without an explicit regularizer actively hurts.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90"/>
                </a:solidFill>
                <a:latin typeface="Calibri"/>
              </a:rPr>
              <a:t>–  </a:t>
            </a:r>
            <a:r>
              <a:rPr sz="1600">
                <a:solidFill>
                  <a:srgbClr val="232A33"/>
                </a:solidFill>
                <a:latin typeface="Calibri"/>
              </a:rPr>
              <a:t>Plain mixed-format SFT widens the format gap to 0.100 vs single-format kl_reg_sft 0.072. Format mixing in continual training requires curriculum, unified rewriting, or — as we show — a preservation-side regularizer.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Symmetric extension fails: K=5 KL preservation adds nothing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1F4E90"/>
                </a:solidFill>
                <a:latin typeface="Calibri"/>
              </a:rPr>
              <a:t>Hypothesis we tested: </a:t>
            </a:r>
            <a:r>
              <a:rPr sz="1800">
                <a:solidFill>
                  <a:srgbClr val="232A33"/>
                </a:solidFill>
                <a:latin typeface="Calibri"/>
              </a:rPr>
              <a:t>single-format KL preservation might fail to detect format-selective forgetting (drift in one preservation framing not visible under another). Augmenting the preservation side with K=5 framings should catch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23160"/>
            <a:ext cx="9418320" cy="1554480"/>
          </a:xfrm>
          <a:prstGeom prst="rect">
            <a:avLst/>
          </a:prstGeom>
          <a:solidFill>
            <a:srgbClr val="FDF7EF"/>
          </a:solidFill>
          <a:ln w="12700">
            <a:solidFill>
              <a:srgbClr val="E8C89C"/>
            </a:solidFill>
          </a:ln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600" b="1">
                <a:solidFill>
                  <a:srgbClr val="C0392B"/>
                </a:solidFill>
                <a:latin typeface="Calibri"/>
              </a:rPr>
              <a:t>Result:  (e) − (d)  =  −0.006  at round 15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232A33"/>
                </a:solidFill>
                <a:latin typeface="Calibri"/>
              </a:rPr>
              <a:t>Trajectory-averaged Δ = −0.004.   95% interval [−0.030, +0.018] straddles zero.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The active ingredient is K=5 injection × any KL anchor — not K=5 on both sides.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Why: K=5 augmentation on the injection side already broadcasts each update across format directions of the gradient; the LoRA update subspace is shared across formats, so single-framing KL implicitly anchors all directions the K=5 update can push.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Caveat: this conjecture leans on LoRA's shared low-rank update subspace. At full fine-tuning, the symmetric extension may earn its keep — not validated.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1554480"/>
          </a:xfrm>
          <a:prstGeom prst="rect">
            <a:avLst/>
          </a:prstGeom>
          <a:solidFill>
            <a:srgbClr val="E8F2E8"/>
          </a:solidFill>
          <a:ln w="12700">
            <a:solidFill>
              <a:srgbClr val="1F8E4F"/>
            </a:solidFill>
          </a:ln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i="1">
                <a:solidFill>
                  <a:srgbClr val="232A33"/>
                </a:solidFill>
                <a:latin typeface="Calibri"/>
              </a:rPr>
              <a:t>For continual LoRA fact injection in task-tuned LLMs:</a:t>
            </a:r>
          </a:p>
          <a:p>
            <a:pPr algn="ctr">
              <a:spcBef>
                <a:spcPts val="800"/>
              </a:spcBef>
            </a:pPr>
            <a:r>
              <a:rPr sz="2200" b="1">
                <a:solidFill>
                  <a:srgbClr val="1F8E4F"/>
                </a:solidFill>
                <a:latin typeface="Calibri"/>
              </a:rPr>
              <a:t>K=5 paraphrastic augmentation on the injection side  +  K=1 KL preservation against a per-round frozen reference</a:t>
            </a:r>
          </a:p>
          <a:p>
            <a:pPr algn="ctr">
              <a:spcBef>
                <a:spcPts val="400"/>
              </a:spcBef>
            </a:pPr>
            <a:r>
              <a:rPr sz="1400" i="1">
                <a:solidFill>
                  <a:srgbClr val="5C6670"/>
                </a:solidFill>
                <a:latin typeface="Calibri"/>
              </a:rPr>
              <a:t>( aug_kl_k1 — condition (d) 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1064240" cy="3291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Use K=5 paraphrastic augmentation on the injection side. Don't rely on K=1 (single-format) injection alone.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Pair it with standard K=1 KL preservation against a per-round frozen reference. Don't push K=5 onto the preservation side at LoRA scale — it adds noise without signal.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Don't use COPR for fact injection — the K-sample-all-wrong pathology breaks the assumption that the candidate pool contains usable signal.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Don't use OOD regularization at K=2 environments — theoretically degenerate per Arjovsky / Rosenfeld / Ahuja, empirically null.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The cross-coupling is the active ingredient. Either ingredient alone gives ~+0.03; together they give +0.322 (4.93× super-linear).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Limitations and follow-ups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303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Single model, single scale. Qwen3-4B at LoRA r=16 only. Synergy magnitude likely shrinks at 7–8B (~15–20 GPU-h follow-up).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Two seeds for the headline cells, one calibration seed. (e) vs (d) null is robust under conservative non-parametric intervals; a 3rd seed is in progress and would tighten bounds.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The mechanism is hypothesized, not proven. Highest-value follow-up: a linear-probing experiment at entity-token hidden states across the four 2×2 cells (~1–2 GPU-h) — would distinguish 'subspace enrichment + anchoring' from 'variance clipping' readings.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K only tested at 5 on the injection side. Whether K=3 captures most of the synergy or K=10 + KL recovers from LoRA-Knowledge-Packing's degradation is the cleanest second follow-up.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Compositional / ripple-effect gap unsolved by every method tested. Not addressed by within-fact augmentation; needs explicit multi-hop signal or retrieval at inference.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90"/>
                </a:solidFill>
                <a:latin typeface="Calibri"/>
              </a:rPr>
              <a:t>•  </a:t>
            </a:r>
            <a:r>
              <a:rPr sz="1500">
                <a:solidFill>
                  <a:srgbClr val="232A33"/>
                </a:solidFill>
                <a:latin typeface="Calibri"/>
              </a:rPr>
              <a:t>Setting matches industrial practice but transfer beyond LoRA is principled, not validated. The synergy direction should extend to full FT; the (e) vs (d) null specifically may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0F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06040"/>
            <a:ext cx="11064240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Bef>
                <a:spcPts val="2000"/>
              </a:spcBef>
            </a:pPr>
            <a:r>
              <a:rPr sz="2200" i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>
                <a:solidFill>
                  <a:srgbClr val="232A33"/>
                </a:solidFill>
                <a:latin typeface="Calibri"/>
              </a:rPr>
              <a:t>Code, configs, and raw artifacts:  github.com/jeremiahmao/still-on-task-llm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>
                <a:solidFill>
                  <a:srgbClr val="5C6670"/>
                </a:solidFill>
                <a:latin typeface="Calibri"/>
              </a:rPr>
              <a:t>COMS 6998   ·   Jeremiah Mao, Mateo Juliani</a:t>
            </a:r>
          </a:p>
          <a:p>
            <a:pPr algn="r"/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>
                <a:solidFill>
                  <a:srgbClr val="5C6670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