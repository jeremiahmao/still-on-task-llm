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3774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0972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A Super-Linear Synergy Between Format Augmentation</a:t>
            </a:r>
          </a:p>
          <a:p>
            <a:r>
              <a:rPr sz="3600" b="1">
                <a:solidFill>
                  <a:srgbClr val="FFFFFF"/>
                </a:solidFill>
                <a:latin typeface="Calibri"/>
              </a:rPr>
              <a:t>and KL Preservation in Continual LoRA Knowledge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2200" i="1">
                <a:solidFill>
                  <a:srgbClr val="232A33"/>
                </a:solidFill>
                <a:latin typeface="Calibri"/>
              </a:rPr>
              <a:t>Knowledge Integration in Task-Tuned Financial LLMs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4068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>
                <a:solidFill>
                  <a:srgbClr val="232A33"/>
                </a:solidFill>
                <a:latin typeface="Calibri"/>
              </a:rPr>
              <a:t>Jeremiah Mao   ·   Mateo Juliani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400">
                <a:solidFill>
                  <a:srgbClr val="5C6670"/>
                </a:solidFill>
                <a:latin typeface="Calibri"/>
              </a:rPr>
              <a:t>COMS 6998   ·   Columbia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029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Models go stale post-deployment. Knowledge cutoffs are fixed; the world is not.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News-driven domains (finance, current events) require continuous fact updates.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Deployed models are typically task-tuned (e.g., for query decomposition, classification, code, RAG).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Naïve fine-tuning to ingest new facts breaks the underlying task. Editing methods can preserve task ability but often fail to make new facts available across formats.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Goal: a continual update procedure that is cheap, behavioral, and preserves the task while injecting facts that surface across prompt formats.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Task: Financial Query Decomposition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>
                <a:solidFill>
                  <a:srgbClr val="232A33"/>
                </a:solidFill>
                <a:latin typeface="Calibri"/>
              </a:rPr>
              <a:t>User question →  the model emits 2-4 retrieval sub-queries  →  each sub-query is run against a document index.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0292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600" b="1">
                <a:solidFill>
                  <a:srgbClr val="1F4E90"/>
                </a:solidFill>
                <a:latin typeface="Calibri"/>
              </a:rPr>
              <a:t>User question:  </a:t>
            </a:r>
            <a:r>
              <a:rPr sz="1600">
                <a:solidFill>
                  <a:srgbClr val="232A33"/>
                </a:solidFill>
                <a:latin typeface="Calibri"/>
              </a:rPr>
              <a:t>"How is MCD performing vs competitors?"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5440680" cy="384048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1F4E90"/>
                </a:solidFill>
                <a:latin typeface="Calibri"/>
              </a:rPr>
              <a:t>Pre-2022 (training cutoff)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"MCD same-store sales growth vs Wendy's 2021"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"Impact of 2021 restaurant labor shortages on MCD operating margins vs competitors"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"Growth of delivery app and drive-thru sales for MCD in 2021"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"Performance of the MCD BTS meal and celebrity partnerships vs competitor marketing"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286000"/>
            <a:ext cx="5440680" cy="384048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Calibri"/>
              </a:rPr>
              <a:t>Post-2022 (new facts the model needs to learn)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"MCD same-store sales growth vs Wendy's 2026"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"ROI and foot traffic impact of MCD's 2026 value meal promotions vs competitor discounts"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"Cost savings from MCD's AI drive-thru ordering and kitchen automation vs competitors 2026"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"Impact of GLP-1 weight-loss drugs on MCD and fast-food sales volumes 2026"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Absorption-Integration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2120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Naïve fine-tuning on the new fact in QA format → the model can produce the answer when asked in QA format …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… but fails to surface the same fact under a QD prompt or other downstream formats. Facts are stored as format-coupled token patterns, not as entity-anchored knowledge.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Format gap = | F1(QA) − F1(QD) |  on the same probe questions wrapped two ways.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Across single-environment update methods, the gap sits at 0.07–0.14 F1 — every method that meaningfully absorbs leaves a gap of this magnitude.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Closing the gap is the central question of this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120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Backbone:  Qwen3-4B-Instruct-2507, task-tuned via LoRA (r=32 / α=64) on FNSPID financial news with a pre-2022 cutoff. The base model is the QD decomposer from slide 3.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Update layer:  LoRA r=16 / α=32 on attention Q/K/V/O + MLP up/down/gate.   AdamW, 3 epochs/round, single A10G 24 GB.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Continual stream:  15 sequential rounds × 200 disjoint fact triples per round (3000 facts total), drawn from post-cutoff FNSPID.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Industrial pattern:  LoRA + LoRA (LoRA-tuned base + LoRA continual updates) is the dominant customer-facing fine-tuning primitive on AWS Bedrock, Together AI, Fireworks, and Vertex AI's open-model garden — the setting matches production practice, not an academic special case.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Headline metric (abs F1):  for each fact, the model is probed with 5 paraphrased questions; abs F1 = mean token-F1 of the model's greedy generation against the gold object string, averaged over 200 facts × 5 paraphrases per round. Two guardrail metrics (preservation R@10, locality F1) on slide 10. Across the COPR family we found hidden-state geometry does NOT predict behavioral F1 — so we report only behavioral numbers.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Key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228600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3000" b="1">
                <a:solidFill>
                  <a:srgbClr val="0F2A57"/>
                </a:solidFill>
                <a:latin typeface="Calibri"/>
              </a:rPr>
              <a:t>Can a simple loss-side composition close the absorption-</a:t>
            </a:r>
          </a:p>
          <a:p>
            <a:pPr algn="ctr"/>
            <a:r>
              <a:rPr sz="3000" b="1">
                <a:solidFill>
                  <a:srgbClr val="0F2A57"/>
                </a:solidFill>
                <a:latin typeface="Calibri"/>
              </a:rPr>
              <a:t>integration gap during continual LoRA editing?</a:t>
            </a:r>
          </a:p>
          <a:p>
            <a:pPr algn="ctr">
              <a:spcBef>
                <a:spcPts val="2000"/>
              </a:spcBef>
            </a:pPr>
            <a:r>
              <a:rPr sz="1800" i="1">
                <a:solidFill>
                  <a:srgbClr val="5C6670"/>
                </a:solidFill>
                <a:latin typeface="Calibri"/>
              </a:rPr>
              <a:t>Specifically: how should we compose data-side augmentation</a:t>
            </a:r>
          </a:p>
          <a:p>
            <a:pPr algn="ctr"/>
            <a:r>
              <a:rPr sz="1800" i="1">
                <a:solidFill>
                  <a:srgbClr val="5C6670"/>
                </a:solidFill>
                <a:latin typeface="Calibri"/>
              </a:rPr>
              <a:t>with a policy-preservation regularizer?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Method:  continual editing chain  +  the 5-condition 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1874519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 b="1">
                <a:solidFill>
                  <a:srgbClr val="0F2A57"/>
                </a:solidFill>
                <a:latin typeface="Calibri"/>
              </a:rPr>
              <a:t>The continual editing loop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32A33"/>
                </a:solidFill>
                <a:latin typeface="Consolas"/>
              </a:rPr>
              <a:t>  π_θ⁽⁰⁾  →  round 1  →  π_θ⁽¹⁾  →  round 2  →  π_θ⁽²⁾  →  …  →  round 15  →  π_θ⁽¹⁵⁾</a:t>
            </a:r>
          </a:p>
          <a:p>
            <a:r>
              <a:rPr sz="1000" i="1">
                <a:solidFill>
                  <a:srgbClr val="5C6670"/>
                </a:solidFill>
                <a:latin typeface="Consolas"/>
              </a:rPr>
              <a:t>  task-tuned base                                                                                       final model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1F4E90"/>
                </a:solidFill>
                <a:latin typeface="Calibri"/>
              </a:rPr>
              <a:t>Each round r: </a:t>
            </a:r>
            <a:r>
              <a:rPr sz="1200">
                <a:solidFill>
                  <a:srgbClr val="232A33"/>
                </a:solidFill>
                <a:latin typeface="Calibri"/>
              </a:rPr>
              <a:t>(1) snapshot π_θ⁽ʳ⁻¹⁾ as a frozen reference π_ref⁽ʳ⁾   (2) train on T_r = 200 facts with the loss below   (3) merge LoRA update, advance to round r+1.</a:t>
            </a:r>
          </a:p>
          <a:p>
            <a:pPr algn="ctr">
              <a:spcBef>
                <a:spcPts val="800"/>
              </a:spcBef>
            </a:pPr>
            <a:r>
              <a:rPr sz="1400" b="1">
                <a:solidFill>
                  <a:srgbClr val="232A33"/>
                </a:solidFill>
                <a:latin typeface="Consolas"/>
              </a:rPr>
              <a:t>ℒ_total(θ; round r)   =   ℒ_SFT(θ; T_r)   +   λ · KL( π_ref⁽ʳ⁾ ‖ π_θ ; D_replay )</a:t>
            </a:r>
            <a:r>
              <a:rPr sz="1200" i="1">
                <a:solidFill>
                  <a:srgbClr val="5C6670"/>
                </a:solidFill>
                <a:latin typeface="Consolas"/>
              </a:rPr>
              <a:t>     λ = 0.1</a:t>
            </a:r>
          </a:p>
          <a:p>
            <a:pPr algn="ctr">
              <a:spcBef>
                <a:spcPts val="200"/>
              </a:spcBef>
            </a:pPr>
            <a:r>
              <a:rPr sz="1100" i="1">
                <a:solidFill>
                  <a:srgbClr val="5C6670"/>
                </a:solidFill>
                <a:latin typeface="Calibri"/>
              </a:rPr>
              <a:t>The KL term is the anchor.  Whether/how it is added defines the 5 conditions below.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971800"/>
          <a:ext cx="1124712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743200"/>
                <a:gridCol w="2468880"/>
                <a:gridCol w="384048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Injection-side  ℒ_SFT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Preservation-side 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(a)  naive_sft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K=1   (QA template only)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vanilla SFT baseline</a:t>
                      </a:r>
                    </a:p>
                  </a:txBody>
                  <a:tcPr marL="54864" marR="54864" marT="36576" marB="36576"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(b)  aug_sft_k5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  paraphrastic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augmentation alone</a:t>
                      </a:r>
                    </a:p>
                  </a:txBody>
                  <a:tcPr marL="54864" marR="54864" marT="36576" marB="36576"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(c)  kl_reg_sft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K=1   (QA template only)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K=1   single framing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policy-preservation baseline</a:t>
                      </a:r>
                    </a:p>
                  </a:txBody>
                  <a:tcPr marL="54864" marR="54864" marT="36576" marB="36576"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32A33"/>
                          </a:solidFill>
                          <a:latin typeface="Calibri"/>
                        </a:rPr>
                        <a:t>(d)  aug_kl_k1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32A33"/>
                          </a:solidFill>
                          <a:latin typeface="Calibri"/>
                        </a:rPr>
                        <a:t>K=5   paraphrastic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32A33"/>
                          </a:solidFill>
                          <a:latin typeface="Calibri"/>
                        </a:rPr>
                        <a:t>K=1   single framing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32A33"/>
                          </a:solidFill>
                          <a:latin typeface="Calibri"/>
                        </a:rPr>
                        <a:t>★ the combination — synergy winner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(e)  dsae_lite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  paraphrastic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  instruction framings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symmetric extension we tested</a:t>
                      </a:r>
                    </a:p>
                  </a:txBody>
                  <a:tcPr marL="54864" marR="54864" marT="36576" marB="36576"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97880"/>
            <a:ext cx="11247120" cy="50292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100" b="1">
                <a:solidFill>
                  <a:srgbClr val="1F4E90"/>
                </a:solidFill>
                <a:latin typeface="Calibri"/>
              </a:rPr>
              <a:t>K notation:  </a:t>
            </a:r>
            <a:r>
              <a:rPr sz="1000">
                <a:solidFill>
                  <a:srgbClr val="232A33"/>
                </a:solidFill>
                <a:latin typeface="Calibri"/>
              </a:rPr>
              <a:t>On the injection side, K = paraphrastic surface forms per fact (Allen-Zhu &amp; Li 2023): K=1 = QA only,  K=5 = QA + QD + declarative + instruction + narrative.   On the preservation side, K = instruction framings of the same task prompt (used in (e) only — see slide 12).   Plus the COPR family — 4 preference-style baselines, evaluated separately (slide 11).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Headline Result: a 4.93× super-linear synergy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645920"/>
                <a:gridCol w="1645920"/>
                <a:gridCol w="128016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no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K=1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54864" marR="54864" marT="36576" marB="36576" anchor="ctr">
                    <a:solidFill>
                      <a:srgbClr val="1F4E90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0.089
(a)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0.118
(c)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5C6670"/>
                          </a:solidFill>
                          <a:latin typeface="Calibri"/>
                        </a:rPr>
                        <a:t>+0.029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K=5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0.125
(b)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 i="0">
                          <a:solidFill>
                            <a:srgbClr val="1F8E4F"/>
                          </a:solidFill>
                          <a:latin typeface="Calibri"/>
                        </a:rPr>
                        <a:t>0.411
(d)  ★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+0.286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54864" marR="54864" marT="36576" marB="36576" anchor="ctr">
                    <a:solidFill>
                      <a:srgbClr val="1F4E9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5C6670"/>
                          </a:solidFill>
                          <a:latin typeface="Calibri"/>
                        </a:rPr>
                        <a:t>+0.036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+0.293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749039"/>
            <a:ext cx="585216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200" i="1">
                <a:solidFill>
                  <a:srgbClr val="5C6670"/>
                </a:solidFill>
                <a:latin typeface="Calibri"/>
              </a:rPr>
              <a:t>Round-15 absorption F1 across the 2×2 ablation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280160"/>
            <a:ext cx="4937760" cy="5029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2200" b="1">
                <a:solidFill>
                  <a:srgbClr val="0F2A57"/>
                </a:solidFill>
                <a:latin typeface="Calibri"/>
              </a:rPr>
              <a:t>Is this just more data?  No.</a:t>
            </a:r>
          </a:p>
          <a:p>
            <a:pPr>
              <a:spcBef>
                <a:spcPts val="600"/>
              </a:spcBef>
            </a:pPr>
            <a:r>
              <a:rPr sz="1300" i="1">
                <a:solidFill>
                  <a:srgbClr val="5C6670"/>
                </a:solidFill>
                <a:latin typeface="Calibri"/>
              </a:rPr>
              <a:t>K=5 conditions see 5× the per-round training data, so a 'data dominates' story would predict K=5 wins on its own.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SFT  (a):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0.089</a:t>
            </a:r>
            <a:r>
              <a:rPr sz="1100" i="1">
                <a:solidFill>
                  <a:srgbClr val="5C6670"/>
                </a:solidFill>
                <a:latin typeface="Calibri"/>
              </a:rPr>
              <a:t>   K=1 baseline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+ 5× paraphrastic data  (b):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0.125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+0.036  (small)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SFT + KL preservation  (c):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0.118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+0.029  (small)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5× data + KL  (d):  </a:t>
            </a:r>
            <a:r>
              <a:rPr sz="2000" b="1">
                <a:solidFill>
                  <a:srgbClr val="1F8E4F"/>
                </a:solidFill>
                <a:latin typeface="Calibri"/>
              </a:rPr>
              <a:t>0.411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+0.322  ★</a:t>
            </a:r>
          </a:p>
          <a:p>
            <a:pPr>
              <a:spcBef>
                <a:spcPts val="12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additive prediction:  </a:t>
            </a:r>
            <a:r>
              <a:rPr sz="1800" b="1">
                <a:solidFill>
                  <a:srgbClr val="5C6670"/>
                </a:solidFill>
                <a:latin typeface="Calibri"/>
              </a:rPr>
              <a:t>+0.065</a:t>
            </a:r>
          </a:p>
          <a:p>
            <a:r>
              <a:rPr sz="1400">
                <a:solidFill>
                  <a:srgbClr val="232A33"/>
                </a:solidFill>
                <a:latin typeface="Calibri"/>
              </a:rPr>
              <a:t>Observed combined:  </a:t>
            </a:r>
            <a:r>
              <a:rPr sz="2000" b="1">
                <a:solidFill>
                  <a:srgbClr val="1F8E4F"/>
                </a:solidFill>
                <a:latin typeface="Calibri"/>
              </a:rPr>
              <a:t>+0.322</a:t>
            </a:r>
            <a:r>
              <a:rPr sz="1400" i="1">
                <a:solidFill>
                  <a:srgbClr val="1F8E4F"/>
                </a:solidFill>
                <a:latin typeface="Calibri"/>
              </a:rPr>
              <a:t>   →   4.93× synergy ratio</a:t>
            </a:r>
          </a:p>
          <a:p>
            <a:pPr>
              <a:spcBef>
                <a:spcPts val="1000"/>
              </a:spcBef>
            </a:pPr>
            <a:r>
              <a:rPr sz="1300" i="1">
                <a:solidFill>
                  <a:srgbClr val="232A33"/>
                </a:solidFill>
                <a:latin typeface="Calibri"/>
              </a:rPr>
              <a:t>5× data alone barely beats naive SFT (0.089 → 0.125).  The cross-coupling is the active mechanism, not the data volume.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Ruling out the 'just more data' explanation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10058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600">
                <a:solidFill>
                  <a:srgbClr val="232A33"/>
                </a:solidFill>
                <a:latin typeface="Calibri"/>
              </a:rPr>
              <a:t>To rule out 'data dominates,' hold data volume fixed and toggle KL preservation. </a:t>
            </a:r>
            <a:r>
              <a:rPr sz="1600" i="1">
                <a:solidFill>
                  <a:srgbClr val="232A33"/>
                </a:solidFill>
                <a:latin typeface="Calibri"/>
              </a:rPr>
              <a:t>If KL contributed a fixed lift independent of data volume, both rows below would show similar Δ abs F1.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286000"/>
          <a:ext cx="110642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377440"/>
                <a:gridCol w="2377440"/>
                <a:gridCol w="265176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Contrast (compute-matched)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Data volume held at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 abs F1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Effect of adding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232A33"/>
                          </a:solidFill>
                          <a:latin typeface="Calibri"/>
                        </a:rPr>
                        <a:t>(c) − (a):  KL added on top of K=1 data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32A33"/>
                          </a:solidFill>
                          <a:latin typeface="Calibri"/>
                        </a:rPr>
                        <a:t>K=1 (200 entries / round)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 i="0">
                          <a:solidFill>
                            <a:srgbClr val="1F4E90"/>
                          </a:solidFill>
                          <a:latin typeface="Calibri"/>
                        </a:rPr>
                        <a:t>+0.029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1">
                          <a:solidFill>
                            <a:srgbClr val="5C6670"/>
                          </a:solidFill>
                          <a:latin typeface="Calibri"/>
                        </a:rPr>
                        <a:t>small lift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232A33"/>
                          </a:solidFill>
                          <a:latin typeface="Calibri"/>
                        </a:rPr>
                        <a:t>(d) − (b):  KL added on top of K=5 data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32A33"/>
                          </a:solidFill>
                          <a:latin typeface="Calibri"/>
                        </a:rPr>
                        <a:t>K=5 (1000 entries / round)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F8E4F"/>
                          </a:solidFill>
                          <a:latin typeface="Calibri"/>
                        </a:rPr>
                        <a:t>+0.286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≈10× larger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572000"/>
            <a:ext cx="11064240" cy="128016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Calibri"/>
              </a:rPr>
              <a:t>Conclusion:  </a:t>
            </a:r>
            <a:r>
              <a:rPr sz="1800">
                <a:solidFill>
                  <a:srgbClr val="232A33"/>
                </a:solidFill>
                <a:latin typeface="Calibri"/>
              </a:rPr>
              <a:t>KL is ~10× more effective when paired with K=5 data than added on top of K=1 data alone.</a:t>
            </a:r>
          </a:p>
          <a:p>
            <a:pPr>
              <a:spcBef>
                <a:spcPts val="600"/>
              </a:spcBef>
            </a:pPr>
            <a:r>
              <a:rPr sz="1400" i="1">
                <a:solidFill>
                  <a:srgbClr val="232A33"/>
                </a:solidFill>
                <a:latin typeface="Calibri"/>
              </a:rPr>
              <a:t>This is the signature of an interaction effect, not a data-volume effect.  More data alone gives +0.036 (b) − (a); more data plus KL gives +0.322.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Guardrails: the lift is not bought through task degradation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>
                <a:solidFill>
                  <a:srgbClr val="232A33"/>
                </a:solidFill>
                <a:latin typeface="Calibri"/>
              </a:rPr>
              <a:t>Preservation R@10 (does the model still emit useful QD sub-queries?) and locality F1 (do unrelated facts degrade?) are stable across all five conditions.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743200"/>
                <a:gridCol w="2743200"/>
                <a:gridCol w="338328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Preservation R@10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Locality F1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(a)  naive_sft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0.243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0.046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(b)  aug_sft_k5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0.267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0.071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(c)  kl_reg_sft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0.240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0.048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(d)  aug_kl_k1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0.237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0.079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(e)  dsae_lite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0.236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0.080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029200"/>
            <a:ext cx="11064240" cy="12801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>
                <a:solidFill>
                  <a:srgbClr val="232A33"/>
                </a:solidFill>
                <a:latin typeface="Calibri"/>
              </a:rPr>
              <a:t>Spread on each guardrail axis is ~0.03 — the absorption signal (~0.32 spread) is an order of magnitude larger than any task-degradation or off-target effect.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Three negative results that constrain the design 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52120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COPR (continual preference alignment) does not port to fact injection.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kl_reg_sft wins absorption against copr_gold_injection in 11 of 14 contested rounds. COPR draws K=8 candidate responses per fact (here K = number of self-sampled candidates) and ranks them via MSE; on novel facts, the K=8 candidates all land below a usable F1 threshold (the K-sample-all-wrong pathology), so the rank fit reinforces plausible-but-wrong answers. Gold injection collapses the method toward cross-entropy at 10–12× per-round compute.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V-REx at K=2 prompt formats is theoretically degenerate.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Here K = number of prompt-format environments (a different K from the augmentation K — this is the IRM/V-REx sense). IRM-family penalties require ≥3 environments (Arjovsky 2019; Rosenfeld 2021; Ahuja 2021). At K=2 the variance term reduces to a pairwise scalar consistency satisfiable by any equalizing solution. Empirically: +0.014 QD F1, within run-to-run noise.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Format diversity without an explicit regularizer actively hurts.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Plain mixed-format SFT widens the format gap to 0.100 vs single-format kl_reg_sft 0.072. Format mixing in continual training requires curriculum, unified rewriting, or — as the slide-8 result shows — a preservation-side regularizer paired with K=5 augmentation on the injection side.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Symmetric extension fails: K=5 KL preservation adds nothing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300">
                <a:solidFill>
                  <a:srgbClr val="232A33"/>
                </a:solidFill>
                <a:latin typeface="Calibri"/>
              </a:rPr>
              <a:t>The KL anchor (slide 7) is evaluated on a held-out task prompt   </a:t>
            </a:r>
            <a:r>
              <a:rPr sz="1200" i="1">
                <a:solidFill>
                  <a:srgbClr val="232A33"/>
                </a:solidFill>
                <a:latin typeface="Consolas"/>
              </a:rPr>
              <a:t>"What should I know about Acme Corp's recent activity?"</a:t>
            </a:r>
            <a:r>
              <a:rPr sz="1300">
                <a:solidFill>
                  <a:srgbClr val="232A33"/>
                </a:solidFill>
                <a:latin typeface="Calibri"/>
              </a:rPr>
              <a:t>   — wrapped in 1 framing (K=1) or 5 framings (K=5).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5486400" cy="228600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2000" b="1">
                <a:solidFill>
                  <a:srgbClr val="0F2A57"/>
                </a:solidFill>
                <a:latin typeface="Calibri"/>
              </a:rPr>
              <a:t>K=1 KL   </a:t>
            </a:r>
            <a:r>
              <a:rPr sz="1200" i="1">
                <a:solidFill>
                  <a:srgbClr val="5C6670"/>
                </a:solidFill>
                <a:latin typeface="Calibri"/>
              </a:rPr>
              <a:t>conditions (c), (d)</a:t>
            </a:r>
          </a:p>
          <a:p>
            <a:pPr>
              <a:spcBef>
                <a:spcPts val="200"/>
              </a:spcBef>
            </a:pPr>
            <a:r>
              <a:rPr sz="1100" i="1">
                <a:solidFill>
                  <a:srgbClr val="5C6670"/>
                </a:solidFill>
                <a:latin typeface="Calibri"/>
              </a:rPr>
              <a:t>One framing only — the Original QD-decomposer prompt: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1F4E90"/>
                </a:solidFill>
                <a:latin typeface="Calibri"/>
              </a:rPr>
              <a:t>Original  </a:t>
            </a:r>
            <a:r>
              <a:rPr sz="1000">
                <a:solidFill>
                  <a:srgbClr val="232A33"/>
                </a:solidFill>
                <a:latin typeface="Consolas"/>
              </a:rPr>
              <a:t>[system: QD-decomposer]  [user: What should I know about Acme Corp's recent activity?]</a:t>
            </a:r>
          </a:p>
          <a:p>
            <a:pPr>
              <a:spcBef>
                <a:spcPts val="1000"/>
              </a:spcBef>
            </a:pPr>
            <a:r>
              <a:rPr sz="1200" i="1">
                <a:solidFill>
                  <a:srgbClr val="232A33"/>
                </a:solidFill>
                <a:latin typeface="Consolas"/>
              </a:rPr>
              <a:t>L_KL^{K=1}  =  KL( π_ref ‖ π_θ )   on the one framing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463040"/>
            <a:ext cx="5486400" cy="4023360"/>
          </a:xfrm>
          <a:prstGeom prst="rect">
            <a:avLst/>
          </a:prstGeom>
          <a:solidFill>
            <a:srgbClr val="E8F2E8"/>
          </a:solidFill>
          <a:ln w="12700">
            <a:solidFill>
              <a:srgbClr val="9DC4A1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2000" b="1">
                <a:solidFill>
                  <a:srgbClr val="1F8E4F"/>
                </a:solidFill>
                <a:latin typeface="Calibri"/>
              </a:rPr>
              <a:t>K=5 KL   </a:t>
            </a:r>
            <a:r>
              <a:rPr sz="1200" i="1">
                <a:solidFill>
                  <a:srgbClr val="5C6670"/>
                </a:solidFill>
                <a:latin typeface="Calibri"/>
              </a:rPr>
              <a:t>condition (e)</a:t>
            </a:r>
          </a:p>
          <a:p>
            <a:pPr>
              <a:spcBef>
                <a:spcPts val="200"/>
              </a:spcBef>
            </a:pPr>
            <a:r>
              <a:rPr sz="1100" i="1">
                <a:solidFill>
                  <a:srgbClr val="5C6670"/>
                </a:solidFill>
                <a:latin typeface="Calibri"/>
              </a:rPr>
              <a:t>Same task prompt wrapped in 5 instruction framings — KL averaged over all five: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Original  </a:t>
            </a:r>
            <a:r>
              <a:rPr sz="900">
                <a:solidFill>
                  <a:srgbClr val="232A33"/>
                </a:solidFill>
                <a:latin typeface="Consolas"/>
              </a:rPr>
              <a:t>[system: QD-decomposer]  [user: ...recent activity?]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Bare  </a:t>
            </a:r>
            <a:r>
              <a:rPr sz="900">
                <a:solidFill>
                  <a:srgbClr val="232A33"/>
                </a:solidFill>
                <a:latin typeface="Consolas"/>
              </a:rPr>
              <a:t>[user: ...recent activity?]   (no system prompt)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Analyst  </a:t>
            </a:r>
            <a:r>
              <a:rPr sz="900">
                <a:solidFill>
                  <a:srgbClr val="232A33"/>
                </a:solidFill>
                <a:latin typeface="Consolas"/>
              </a:rPr>
              <a:t>[user: You are a financial analyst. Answer concisely: ...]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Detailed  </a:t>
            </a:r>
            <a:r>
              <a:rPr sz="900">
                <a:solidFill>
                  <a:srgbClr val="232A33"/>
                </a:solidFill>
                <a:latin typeface="Consolas"/>
              </a:rPr>
              <a:t>[user: Given the following question, provide a detailed response: ...]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Request  </a:t>
            </a:r>
            <a:r>
              <a:rPr sz="900">
                <a:solidFill>
                  <a:srgbClr val="232A33"/>
                </a:solidFill>
                <a:latin typeface="Consolas"/>
              </a:rPr>
              <a:t>[user: Question: ...recent activity?  Please provide your analysis.]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232A33"/>
                </a:solidFill>
                <a:latin typeface="Consolas"/>
              </a:rPr>
              <a:t>L_KL^{K=5}  =  (1/5) · Σ_k  KL( π_ref(·|G_k) ‖ π_θ(·|G_k) 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86200"/>
            <a:ext cx="5486400" cy="91440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200" b="1">
                <a:solidFill>
                  <a:srgbClr val="C0392B"/>
                </a:solidFill>
                <a:latin typeface="Calibri"/>
              </a:rPr>
              <a:t>(e) − (d)  =  −0.006</a:t>
            </a:r>
          </a:p>
          <a:p>
            <a:pPr algn="ctr">
              <a:spcBef>
                <a:spcPts val="200"/>
              </a:spcBef>
            </a:pPr>
            <a:r>
              <a:rPr sz="1200" i="1">
                <a:solidFill>
                  <a:srgbClr val="232A33"/>
                </a:solidFill>
                <a:latin typeface="Calibri"/>
              </a:rPr>
              <a:t>K=5 on the preservation side adds nothing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532120"/>
            <a:ext cx="11247120" cy="8686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F4E90"/>
                </a:solidFill>
                <a:latin typeface="Calibri"/>
              </a:rPr>
              <a:t>•  </a:t>
            </a:r>
            <a:r>
              <a:rPr sz="1100">
                <a:solidFill>
                  <a:srgbClr val="232A33"/>
                </a:solidFill>
                <a:latin typeface="Calibri"/>
              </a:rPr>
              <a:t>Active ingredient is K=5 injection × any KL anchor — not K=5 on both sides.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F4E90"/>
                </a:solidFill>
                <a:latin typeface="Calibri"/>
              </a:rPr>
              <a:t>•  </a:t>
            </a:r>
            <a:r>
              <a:rPr sz="1100">
                <a:solidFill>
                  <a:srgbClr val="232A33"/>
                </a:solidFill>
                <a:latin typeface="Calibri"/>
              </a:rPr>
              <a:t>Why: K=5 augmentation on the injection side already broadcasts each update across format directions of the gradient; LoRA's update subspace is shared across formats, so single-framing KL implicitly anchors all directions the K=5 update can push.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F4E90"/>
                </a:solidFill>
                <a:latin typeface="Calibri"/>
              </a:rPr>
              <a:t>•  </a:t>
            </a:r>
            <a:r>
              <a:rPr sz="1100">
                <a:solidFill>
                  <a:srgbClr val="232A33"/>
                </a:solidFill>
                <a:latin typeface="Calibri"/>
              </a:rPr>
              <a:t>Caveat: this leans on LoRA's shared low-rank update subspace. At full fine-tuning the symmetric extension may earn its keep — not validated.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1554480"/>
          </a:xfrm>
          <a:prstGeom prst="rect">
            <a:avLst/>
          </a:prstGeom>
          <a:solidFill>
            <a:srgbClr val="E8F2E8"/>
          </a:solidFill>
          <a:ln w="12700">
            <a:solidFill>
              <a:srgbClr val="1F8E4F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000" i="1">
                <a:solidFill>
                  <a:srgbClr val="232A33"/>
                </a:solidFill>
                <a:latin typeface="Calibri"/>
              </a:rPr>
              <a:t>For continual LoRA fact injection in task-tuned LLMs:</a:t>
            </a:r>
          </a:p>
          <a:p>
            <a:pPr algn="ctr">
              <a:spcBef>
                <a:spcPts val="800"/>
              </a:spcBef>
            </a:pPr>
            <a:r>
              <a:rPr sz="2200" b="1">
                <a:solidFill>
                  <a:srgbClr val="1F8E4F"/>
                </a:solidFill>
                <a:latin typeface="Calibri"/>
              </a:rPr>
              <a:t>K=5 paraphrastic augmentation on the injection side  +  K=1 KL preservation against a per-round frozen reference</a:t>
            </a:r>
          </a:p>
          <a:p>
            <a:pPr algn="ctr">
              <a:spcBef>
                <a:spcPts val="400"/>
              </a:spcBef>
            </a:pPr>
            <a:r>
              <a:rPr sz="1400" i="1">
                <a:solidFill>
                  <a:srgbClr val="5C6670"/>
                </a:solidFill>
                <a:latin typeface="Calibri"/>
              </a:rPr>
              <a:t>( aug_kl_k1 — condition (d) 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11064240" cy="32918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Use K=5 paraphrastic augmentation on the injection side. Don't rely on K=1 (single-format) injection alone.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Pair it with standard K=1 KL preservation against a per-round frozen reference. Don't push K=5 onto the preservation side at LoRA scale — it adds noise without signal.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Don't use COPR for fact injection — the K-sample-all-wrong pathology breaks the assumption that the candidate pool contains usable signal.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Don't use OOD regularization at K=2 environments — theoretically degenerate per Arjovsky / Rosenfeld / Ahuja, empirically null.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The cross-coupling is the active ingredient. Either ingredient alone gives ~+0.03; together they give +0.322 (4.93× super-linear).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Limitations and follow-ups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53035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Single model, single scale. Qwen3-4B at LoRA r=16 only. Synergy magnitude likely shrinks at 7–8B (~15–20 GPU-h follow-up).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Two seeds for the headline cells, one calibration seed. (e) vs (d) null is robust under conservative non-parametric intervals; a 3rd seed is in progress and would tighten bounds.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The mechanism is hypothesized, not proven. Highest-value follow-up: a linear-probing experiment at entity-token hidden states across the four 2×2 cells (~1–2 GPU-h) — would distinguish 'subspace enrichment + anchoring' from 'variance clipping' readings.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K only tested at 5 on the injection side. Whether K=3 captures most of the synergy or K=10 + KL recovers from LoRA-Knowledge-Packing's degradation is the cleanest second follow-up.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Compositional / ripple-effect gap unsolved by every method tested. Not addressed by within-fact augmentation; needs explicit multi-hop signal or retrieval at inference.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Setting matches industrial practice but transfer beyond LoRA is principled, not validated. The synergy direction should extend to full FT; the (e) vs (d) null specifically may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606040"/>
            <a:ext cx="11064240" cy="18288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ctr">
              <a:spcBef>
                <a:spcPts val="2000"/>
              </a:spcBef>
            </a:pPr>
            <a:r>
              <a:rPr sz="2200" i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93776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600">
                <a:solidFill>
                  <a:srgbClr val="232A33"/>
                </a:solidFill>
                <a:latin typeface="Calibri"/>
              </a:rPr>
              <a:t>Code, configs, and raw artifacts:  github.com/jeremiahmao/still-on-task-llm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