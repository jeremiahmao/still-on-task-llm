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120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Backbone:  Qwen3-4B-Instruct-2507, task-tuned via LoRA (r=32 / α=64) on FNSPID financial news with a pre-2022 cutoff. The base model is the QD decomposer from slide 3.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Update layer:  LoRA r=16 / α=32 on attention Q/K/V/O + MLP up/down/gate.   AdamW, 3 epochs/round, single A10G 24 GB.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Continual stream:  15 sequential rounds × 200 disjoint fact triples per round (3000 facts total), drawn from post-cutoff FNSPID.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Industrial pattern:  LoRA + LoRA (LoRA-tuned base + LoRA continual updates) is the dominant customer-facing fine-tuning primitive on AWS Bedrock, Together AI, Fireworks, and Vertex AI's open-model garden — the setting matches production practice, not an academic special case.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Headline metric (abs F1):  for each fact, the model is probed with 5 paraphrased questions; abs F1 = mean token-F1 of the model's greedy generation against the gold object string, averaged over 200 facts × 5 paraphrases per round. Two guardrail metrics (preservation R@10, locality F1) on slide 10. Across the COPR family we found hidden-state geometry does NOT predict behavioral F1 — so we report only behavioral numbers.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Method:  continual editing chain  +  the 5-condition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1874519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0F2A57"/>
                </a:solidFill>
                <a:latin typeface="Calibri"/>
              </a:rPr>
              <a:t>The continual editing loop</a:t>
            </a: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232A33"/>
                </a:solidFill>
                <a:latin typeface="Consolas"/>
              </a:rPr>
              <a:t>  π_θ⁽⁰⁾  →  round 1  →  π_θ⁽¹⁾  →  round 2  →  π_θ⁽²⁾  →  …  →  round 15  →  π_θ⁽¹⁵⁾</a:t>
            </a:r>
          </a:p>
          <a:p>
            <a:r>
              <a:rPr sz="1000" i="1">
                <a:solidFill>
                  <a:srgbClr val="5C6670"/>
                </a:solidFill>
                <a:latin typeface="Consolas"/>
              </a:rPr>
              <a:t>  task-tuned base                                                                                       final model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1F4E90"/>
                </a:solidFill>
                <a:latin typeface="Calibri"/>
              </a:rPr>
              <a:t>Each round r: </a:t>
            </a:r>
            <a:r>
              <a:rPr sz="1200">
                <a:solidFill>
                  <a:srgbClr val="232A33"/>
                </a:solidFill>
                <a:latin typeface="Calibri"/>
              </a:rPr>
              <a:t>(1) snapshot π_θ⁽ʳ⁻¹⁾ as a frozen reference π_ref⁽ʳ⁾   (2) train on T_r = 200 facts with the loss below   (3) merge LoRA update, advance to round r+1.</a:t>
            </a:r>
          </a:p>
          <a:p>
            <a:pPr algn="ctr">
              <a:spcBef>
                <a:spcPts val="800"/>
              </a:spcBef>
            </a:pPr>
            <a:r>
              <a:rPr sz="1400" b="1">
                <a:solidFill>
                  <a:srgbClr val="232A33"/>
                </a:solidFill>
                <a:latin typeface="Consolas"/>
              </a:rPr>
              <a:t>ℒ_total(θ; round r)   =   ℒ_SFT(θ; T_r)   +   λ · KL( π_ref⁽ʳ⁾ ‖ π_θ ; D_replay )</a:t>
            </a:r>
            <a:r>
              <a:rPr sz="1200" i="1">
                <a:solidFill>
                  <a:srgbClr val="5C6670"/>
                </a:solidFill>
                <a:latin typeface="Consolas"/>
              </a:rPr>
              <a:t>     λ = 0.1</a:t>
            </a:r>
          </a:p>
          <a:p>
            <a:pPr algn="ctr"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The KL term is the anchor.  Whether/how it is added defines the 5 conditions below.</a:t>
            </a:r>
          </a:p>
          <a:p>
            <a:pPr algn="ctr">
              <a:spcBef>
                <a:spcPts val="2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π = the model's next-token distribution.   θ = LoRA adapter weights (trained).   π_θ = live model.   π_ref⁽ʳ⁾ = frozen snapshot at start of round 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71800"/>
          <a:ext cx="11247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468880"/>
                <a:gridCol w="38404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Injection-side  ℒ_SFT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Preservation-side 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     
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vanilla SFT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      
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KL only         
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(QA template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      
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K=1   single framing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  
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K=5   instruction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K notation:  </a:t>
            </a:r>
            <a:r>
              <a:rPr sz="1000">
                <a:solidFill>
                  <a:srgbClr val="232A33"/>
                </a:solidFill>
                <a:latin typeface="Calibri"/>
              </a:rPr>
              <a:t>On the injection side, K = paraphrastic surface forms per fact (Allen-Zhu &amp; Li 2023): K=1 = QA only,  K=5 = QA + QD + declarative + instruction + narrative.   On the preservation side, K = instruction framings of the same task prompt (used in K=5 + K=5 KL only — see slide 12).   Plus the COPR family — 4 preference-style baselines, evaluated separately (slide 11).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0.089
naive SFT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0.118
KL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232A33"/>
                          </a:solidFill>
                          <a:latin typeface="Calibri"/>
                        </a:rPr>
                        <a:t>0.125
K=5 only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F8E4F"/>
                          </a:solidFill>
                          <a:latin typeface="Calibri"/>
                        </a:rPr>
                        <a:t>0.411
K=5 + KL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21945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100" b="1">
                <a:solidFill>
                  <a:srgbClr val="1F4E90"/>
                </a:solidFill>
                <a:latin typeface="Calibri"/>
              </a:rPr>
              <a:t>How abs F1 is computed (per probe):  </a:t>
            </a:r>
            <a:r>
              <a:rPr sz="1100">
                <a:solidFill>
                  <a:srgbClr val="232A33"/>
                </a:solidFill>
                <a:latin typeface="Calibri"/>
              </a:rPr>
              <a:t>token-level F1 between the greedy generation and gold object string.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5C6670"/>
                </a:solidFill>
                <a:latin typeface="Consolas"/>
              </a:rPr>
              <a:t>gen = </a:t>
            </a:r>
            <a:r>
              <a:rPr sz="1000">
                <a:solidFill>
                  <a:srgbClr val="232A33"/>
                </a:solidFill>
                <a:latin typeface="Consolas"/>
              </a:rPr>
              <a:t>"Acme Corp's 2025 revenue was $4.2B"</a:t>
            </a:r>
            <a:r>
              <a:rPr sz="1000">
                <a:solidFill>
                  <a:srgbClr val="5C6670"/>
                </a:solidFill>
                <a:latin typeface="Consolas"/>
              </a:rPr>
              <a:t>   →   tokens {Acme, Corp's, 2025, revenue, was, $4.2B}   (6)</a:t>
            </a:r>
          </a:p>
          <a:p>
            <a:r>
              <a:rPr sz="1000">
                <a:solidFill>
                  <a:srgbClr val="5C6670"/>
                </a:solidFill>
                <a:latin typeface="Consolas"/>
              </a:rPr>
              <a:t>gold = </a:t>
            </a:r>
            <a:r>
              <a:rPr sz="1000">
                <a:solidFill>
                  <a:srgbClr val="232A33"/>
                </a:solidFill>
                <a:latin typeface="Consolas"/>
              </a:rPr>
              <a:t>"$4.2B"</a:t>
            </a:r>
            <a:r>
              <a:rPr sz="1000">
                <a:solidFill>
                  <a:srgbClr val="5C6670"/>
                </a:solidFill>
                <a:latin typeface="Consolas"/>
              </a:rPr>
              <a:t>                                     →   tokens {$4.2B}              (1)</a:t>
            </a:r>
          </a:p>
          <a:p>
            <a:pPr>
              <a:spcBef>
                <a:spcPts val="200"/>
              </a:spcBef>
            </a:pPr>
            <a:r>
              <a:rPr sz="1000">
                <a:solidFill>
                  <a:srgbClr val="232A33"/>
                </a:solidFill>
                <a:latin typeface="Consolas"/>
              </a:rPr>
              <a:t>overlap {$4.2B}:   precision = 1/6 = 0.167,   recall = 1/1 = 1.0,   F1 = 2·P·R / (P+R) = 0.286</a:t>
            </a:r>
          </a:p>
          <a:p>
            <a:pPr>
              <a:spcBef>
                <a:spcPts val="400"/>
              </a:spcBef>
            </a:pPr>
            <a:r>
              <a:rPr sz="1000" i="1">
                <a:solidFill>
                  <a:srgbClr val="5C6670"/>
                </a:solidFill>
                <a:latin typeface="Calibri"/>
              </a:rPr>
              <a:t>abs F1 = mean of the per-probe F1 across 200 facts × 5 paraphrased probes per round.   Δ values are absolute differences (percentage points).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(K=1,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only  (K=5, no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KL only  (K=1, K=1 KL):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K=5 + KL  (K=5, K=1 KL):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KL only  −  naive SFT
(KL added on top of K=1 data)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+ KL  −  K=5 only
(KL added on top of K=5 data)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(K=5 only − naive SFT) gives +0.036; more data plus KL (K=5 + KL − naive SFT)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naive SFT  (K=1, no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only  (K=5, no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KL only  (K=1, K=1 KL)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KL  (K=5, K=1 KL)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K=5 + K=5 KL  (symmetric)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the slide-8 result shows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The KL anchor (slide 7) is evaluated on a held-out task prompt   </a:t>
            </a:r>
            <a:r>
              <a:rPr sz="1200" i="1">
                <a:solidFill>
                  <a:srgbClr val="232A33"/>
                </a:solidFill>
                <a:latin typeface="Consolas"/>
              </a:rPr>
              <a:t>"What should I know about Acme Corp's recent activity?"</a:t>
            </a:r>
            <a:r>
              <a:rPr sz="1300">
                <a:solidFill>
                  <a:srgbClr val="232A33"/>
                </a:solidFill>
                <a:latin typeface="Calibri"/>
              </a:rPr>
              <a:t>   — wrapped in 1 framing (K=1) or 5 framings (K=5).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548640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0F2A57"/>
                </a:solidFill>
                <a:latin typeface="Calibri"/>
              </a:rPr>
              <a:t>K=1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KL only and K=5 + KL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One framing only — the Original QD-decomposer prompt:</a:t>
            </a:r>
          </a:p>
          <a:p>
            <a:pPr>
              <a:spcBef>
                <a:spcPts val="6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Original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10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L_KL^{K=1}  =  KL( π_ref ‖ π_θ )   on the one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463040"/>
            <a:ext cx="5486400" cy="4023360"/>
          </a:xfrm>
          <a:prstGeom prst="rect">
            <a:avLst/>
          </a:prstGeom>
          <a:solidFill>
            <a:srgbClr val="E8F2E8"/>
          </a:solidFill>
          <a:ln w="12700">
            <a:solidFill>
              <a:srgbClr val="9DC4A1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2000" b="1">
                <a:solidFill>
                  <a:srgbClr val="1F8E4F"/>
                </a:solidFill>
                <a:latin typeface="Calibri"/>
              </a:rPr>
              <a:t>K=5 KL   </a:t>
            </a:r>
            <a:r>
              <a:rPr sz="1200" i="1">
                <a:solidFill>
                  <a:srgbClr val="5C6670"/>
                </a:solidFill>
                <a:latin typeface="Calibri"/>
              </a:rPr>
              <a:t>used by K=5 + K=5 KL (the symmetric extension)</a:t>
            </a:r>
          </a:p>
          <a:p>
            <a:pPr>
              <a:spcBef>
                <a:spcPts val="200"/>
              </a:spcBef>
            </a:pPr>
            <a:r>
              <a:rPr sz="1100" i="1">
                <a:solidFill>
                  <a:srgbClr val="5C6670"/>
                </a:solidFill>
                <a:latin typeface="Calibri"/>
              </a:rPr>
              <a:t>Same task prompt wrapped in 5 instruction framings — KL averaged over all five: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Original  </a:t>
            </a:r>
            <a:r>
              <a:rPr sz="900">
                <a:solidFill>
                  <a:srgbClr val="232A33"/>
                </a:solidFill>
                <a:latin typeface="Consolas"/>
              </a:rPr>
              <a:t>[system: QD-decomposer]  [user: ...recent activity?]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Bare  </a:t>
            </a:r>
            <a:r>
              <a:rPr sz="900">
                <a:solidFill>
                  <a:srgbClr val="232A33"/>
                </a:solidFill>
                <a:latin typeface="Consolas"/>
              </a:rPr>
              <a:t>[user: ...recent activity?]   (no system prompt)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Analyst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You are a financial analyst. Answer concisely: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Detailed  </a:t>
            </a:r>
            <a:r>
              <a:rPr sz="900">
                <a:solidFill>
                  <a:srgbClr val="232A33"/>
                </a:solidFill>
                <a:latin typeface="Consolas"/>
              </a:rPr>
              <a:t>[user: Given the following question, provide a detailed response: ...]</a:t>
            </a:r>
          </a:p>
          <a:p>
            <a:pPr>
              <a:spcBef>
                <a:spcPts val="200"/>
              </a:spcBef>
            </a:pPr>
            <a:r>
              <a:rPr sz="1000" b="1">
                <a:solidFill>
                  <a:srgbClr val="1F8E4F"/>
                </a:solidFill>
                <a:latin typeface="Calibri"/>
              </a:rPr>
              <a:t>  Request  </a:t>
            </a:r>
            <a:r>
              <a:rPr sz="900">
                <a:solidFill>
                  <a:srgbClr val="232A33"/>
                </a:solidFill>
                <a:latin typeface="Consolas"/>
              </a:rPr>
              <a:t>[user: Question: ...recent activity?  Please provide your analysis.]</a:t>
            </a:r>
          </a:p>
          <a:p>
            <a:pPr>
              <a:spcBef>
                <a:spcPts val="800"/>
              </a:spcBef>
            </a:pPr>
            <a:r>
              <a:rPr sz="1200" i="1">
                <a:solidFill>
                  <a:srgbClr val="232A33"/>
                </a:solidFill>
                <a:latin typeface="Consolas"/>
              </a:rPr>
              <a:t>L_KL^{K=5}  =  (1/5) · Σ_k  KL( π_ref(·|G_k) ‖ π_θ(·|G_k)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886200"/>
            <a:ext cx="548640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1">
                <a:solidFill>
                  <a:srgbClr val="232A33"/>
                </a:solidFill>
                <a:latin typeface="Calibri"/>
              </a:rPr>
              <a:t>K=5 + K=5 KL   −   K=5 + KL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C0392B"/>
                </a:solidFill>
                <a:latin typeface="Calibri"/>
              </a:rPr>
              <a:t>=   −0.006   at round 15</a:t>
            </a:r>
          </a:p>
          <a:p>
            <a:pPr algn="ctr">
              <a:spcBef>
                <a:spcPts val="200"/>
              </a:spcBef>
            </a:pPr>
            <a:r>
              <a:rPr sz="1200" i="1">
                <a:solidFill>
                  <a:srgbClr val="232A33"/>
                </a:solidFill>
                <a:latin typeface="Calibri"/>
              </a:rPr>
              <a:t>adding K=5 to the preservation side adds nothing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Active ingredient is K=5 injection × any KL anchor — not K=5 on both sides.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1">
                <a:solidFill>
                  <a:srgbClr val="1F4E90"/>
                </a:solidFill>
                <a:latin typeface="Calibri"/>
              </a:rPr>
              <a:t>•  </a:t>
            </a:r>
            <a:r>
              <a:rPr sz="1100">
                <a:solidFill>
                  <a:srgbClr val="232A33"/>
                </a:solidFill>
                <a:latin typeface="Calibri"/>
              </a:rPr>
              <a:t>Caveat: this leans on LoRA's shared low-rank update subspace. At full fine-tuning the symmetric extension may earn its keep — not validated.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K=5 + KL  =  aug_kl_k1 )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The (K=5 + K=5 KL) vs (K=5 + KL)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(K=5 + K=5 KL) vs (K=5 + KL)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