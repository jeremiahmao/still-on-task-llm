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3774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4688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A Super-Linear Synergy Between Format Augmentation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and KL Preservation in Continual LoRA Knowledge Injection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i="1">
                <a:solidFill>
                  <a:srgbClr val="232A33"/>
                </a:solidFill>
                <a:latin typeface="Calibri"/>
              </a:rPr>
              <a:t>Knowledge Integration in Task-Tuned Financial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4068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Jeremiah Mao   ·   Mateo Juliani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COMS 6998   ·   Columbia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Models go stale post-deployment. Knowledge cutoffs are fixed; the world is not.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News-driven domains (finance, current events) require continuous fact updates.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Deployed models are typically task-tuned (e.g., for query decomposition, classification, code, RAG).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to ingest new facts breaks the underlying task. Editing methods can preserve task ability but often fail to make new facts available across formats.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Goal: a continual update procedure that is cheap, behavioral, and preserves the task while injecting facts that surface across prompt formats.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Task: Financial Query Decomposition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>
                <a:solidFill>
                  <a:srgbClr val="232A33"/>
                </a:solidFill>
                <a:latin typeface="Calibri"/>
              </a:rPr>
              <a:t>User question →  the model emits 2-4 retrieval sub-queries  →  each sub-query is run against a document index.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502920"/>
          </a:xfrm>
          <a:prstGeom prst="rect">
            <a:avLst/>
          </a:prstGeom>
          <a:solidFill>
            <a:srgbClr val="ECF1F8"/>
          </a:solidFill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 b="1">
                <a:solidFill>
                  <a:srgbClr val="1F4E90"/>
                </a:solidFill>
                <a:latin typeface="Calibri"/>
              </a:rPr>
              <a:t>User question:  </a:t>
            </a:r>
            <a:r>
              <a:rPr sz="1600">
                <a:solidFill>
                  <a:srgbClr val="232A33"/>
                </a:solidFill>
                <a:latin typeface="Calibri"/>
              </a:rPr>
              <a:t>"How is MCD performing vs competitors?"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5440680" cy="38404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1F4E90"/>
                </a:solidFill>
                <a:latin typeface="Calibri"/>
              </a:rPr>
              <a:t>Pre-2022 (training cutoff)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2021 restaurant labor shortages on MCD operating margins vs competitors"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"Growth of delivery app and drive-thru sales for MCD in 2021"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1F4E90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"Performance of the MCD BTS meal and celebrity partnerships vs competitor marketing"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286000"/>
            <a:ext cx="5440680" cy="384048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Post-2022 (new facts the model needs to learn)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"MCD same-store sales growth vs Wendy's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"ROI and foot traffic impact of MCD's 2026 value meal promotions vs competitor discounts"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"Cost savings from MCD's AI drive-thru ordering and kitchen automation vs competitors 2026"</a:t>
            </a:r>
          </a:p>
          <a:p>
            <a:pPr>
              <a:spcBef>
                <a:spcPts val="400"/>
              </a:spcBef>
            </a:pPr>
            <a:r>
              <a:rPr sz="1400" b="1">
                <a:solidFill>
                  <a:srgbClr val="C0392B"/>
                </a:solidFill>
                <a:latin typeface="Calibri"/>
              </a:rPr>
              <a:t>•  </a:t>
            </a:r>
            <a:r>
              <a:rPr sz="1400">
                <a:solidFill>
                  <a:srgbClr val="232A33"/>
                </a:solidFill>
                <a:latin typeface="Calibri"/>
              </a:rPr>
              <a:t>"Impact of GLP-1 weight-loss drugs on MCD and fast-food sales volumes 2026"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The Absorption-Integration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Naïve fine-tuning on the new fact in QA format → the model can produce the answer when asked in QA format …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… but fails to surface the same fact under a QD prompt or other downstream formats. Facts are stored as format-coupled token patterns, not as entity-anchored knowledge.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Format gap = | F1(QA) − F1(QD) |  on the same probe questions wrapped two ways.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Across single-environment update methods, the gap sits at 0.07–0.14 F1 — every method that meaningfully absorbs leaves a gap of this magnitude.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2000" b="1">
                <a:solidFill>
                  <a:srgbClr val="1F4E90"/>
                </a:solidFill>
                <a:latin typeface="Calibri"/>
              </a:rPr>
              <a:t>•  </a:t>
            </a:r>
            <a:r>
              <a:rPr sz="2000">
                <a:solidFill>
                  <a:srgbClr val="232A33"/>
                </a:solidFill>
                <a:latin typeface="Calibri"/>
              </a:rPr>
              <a:t>Closing the gap is the central question of this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Setup: a real industrial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Backbone: Qwen3-4B-Instruct-2507, LoRA-tuned (r=32 / α=64) on FNSPID financial news, pre-2022 cutoff.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Update layer: LoRA r=16 / α=32 on attention Q/K/V/O + MLP up/down/gate.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Continual stream: 15 sequential rounds × 200 disjoint fact triples per round (3000 facts total). Round k chains from round k-1's merged model.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This setting matches the dominant industrial fine-tuning pattern: LoRA + LoRA is the customer-facing primitive on AWS Bedrock, Together AI, Fireworks, and Vertex AI's open-model garden (HuggingFace PEFT, QLoRA).</a:t>
            </a:r>
          </a:p>
          <a:p>
            <a:pPr>
              <a:lnSpc>
                <a:spcPct val="118000"/>
              </a:lnSpc>
              <a:spcAft>
                <a:spcPts val="600"/>
              </a:spcAft>
            </a:pPr>
            <a:r>
              <a:rPr sz="1800" b="1">
                <a:solidFill>
                  <a:srgbClr val="1F4E90"/>
                </a:solidFill>
                <a:latin typeface="Calibri"/>
              </a:rPr>
              <a:t>•  </a:t>
            </a:r>
            <a:r>
              <a:rPr sz="1800">
                <a:solidFill>
                  <a:srgbClr val="232A33"/>
                </a:solidFill>
                <a:latin typeface="Calibri"/>
              </a:rPr>
              <a:t>All evaluation is behavioral (token-F1 of greedy generation against gold), not geometric — we found across the COPR family that hidden-state cosine proximity does not predict cross-format behavioral availability.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Key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228600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Can a simple loss-side composition close the absorption-</a:t>
            </a:r>
          </a:p>
          <a:p>
            <a:pPr algn="ctr"/>
            <a:r>
              <a:rPr sz="3000" b="1">
                <a:solidFill>
                  <a:srgbClr val="0F2A57"/>
                </a:solidFill>
                <a:latin typeface="Calibri"/>
              </a:rPr>
              <a:t>integration gap during continual LoRA editing?</a:t>
            </a:r>
          </a:p>
          <a:p>
            <a:pPr algn="ctr">
              <a:spcBef>
                <a:spcPts val="2000"/>
              </a:spcBef>
            </a:pPr>
            <a:r>
              <a:rPr sz="1800" i="1">
                <a:solidFill>
                  <a:srgbClr val="5C6670"/>
                </a:solidFill>
                <a:latin typeface="Calibri"/>
              </a:rPr>
              <a:t>Specifically: how should we compose data-side augmentation</a:t>
            </a:r>
          </a:p>
          <a:p>
            <a:pPr algn="ctr"/>
            <a:r>
              <a:rPr sz="1800" i="1">
                <a:solidFill>
                  <a:srgbClr val="5C6670"/>
                </a:solidFill>
                <a:latin typeface="Calibri"/>
              </a:rPr>
              <a:t>with a policy-preservation regularizer?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Methods Tested: a 2×2 ablation + symmetric extension + COPR family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400">
                <a:solidFill>
                  <a:srgbClr val="5C6670"/>
                </a:solidFill>
                <a:latin typeface="Calibri"/>
              </a:rPr>
              <a:t>K=5 paraphrastic injection (Allen-Zhu &amp; Li 2023) renders each fact in 5 surface forms (QA, QD, declarative, instruction, narrative).  KL preservation anchors against a per-round frozen reference.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11064239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468880"/>
                <a:gridCol w="3749039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Injection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Vanilla fine-tuning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Augmentation alone — Allen-Zhu replication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(QA only)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Standard policy-preservation baseline</a:t>
                      </a:r>
                    </a:p>
                  </a:txBody>
                  <a:tcPr marL="54864" marR="54864" marT="36576" marB="36576" anchor="ctr"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K=1 KL on replay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32A33"/>
                          </a:solidFill>
                          <a:latin typeface="Calibri"/>
                        </a:rPr>
                        <a:t>★ The combination — the synergy winner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paraphrastic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K=5 KL framings</a:t>
                      </a: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232A33"/>
                          </a:solidFill>
                          <a:latin typeface="Calibri"/>
                        </a:rPr>
                        <a:t>Symmetric extension we tested</a:t>
                      </a:r>
                    </a:p>
                  </a:txBody>
                  <a:tcPr marL="54864" marR="54864" marT="36576" marB="36576"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64240" cy="59436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b="1">
                <a:solidFill>
                  <a:srgbClr val="1F4E90"/>
                </a:solidFill>
                <a:latin typeface="Calibri"/>
              </a:rPr>
              <a:t>Notation:  </a:t>
            </a:r>
            <a:r>
              <a:rPr sz="1100">
                <a:solidFill>
                  <a:srgbClr val="232A33"/>
                </a:solidFill>
                <a:latin typeface="Calibri"/>
              </a:rPr>
              <a:t>K = number of paraphrastic surface forms per fact (Allen-Zhu &amp; Li 2023). K=1 → one template (QA only).  K=5 → five templates (QA, QD, declarative, instruction, narrative).  On the preservation side: K = number of instruction framings of the same task prompt (used in (e) only).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>
                <a:solidFill>
                  <a:srgbClr val="232A33"/>
                </a:solidFill>
                <a:latin typeface="Calibri"/>
              </a:rPr>
              <a:t>Plus the COPR family (preference-style baselines): copr, copr_gold_injection, copr_gold_injection_anchored, copr_anchored.   </a:t>
            </a:r>
            <a:r>
              <a:rPr sz="1200" i="1">
                <a:solidFill>
                  <a:srgbClr val="5C6670"/>
                </a:solidFill>
                <a:latin typeface="Calibri"/>
              </a:rPr>
              <a:t>15 rounds × 200 facts × 2 seeds for new conditions; (c) at 1 seed from prior phases.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Headline Result: a 4.93× super-linear synergy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645920"/>
                <a:gridCol w="1645920"/>
                <a:gridCol w="12801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no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0.089
(a)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0.118
(c)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K=5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0.125
(b)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8E4F"/>
                          </a:solidFill>
                          <a:latin typeface="Calibri"/>
                        </a:rPr>
                        <a:t>0.411
(d)  ★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54864" marR="54864" marT="36576" marB="36576" anchor="ctr">
                    <a:solidFill>
                      <a:srgbClr val="1F4E9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5C6670"/>
                          </a:solidFill>
                          <a:latin typeface="Calibri"/>
                        </a:rPr>
                        <a:t>+0.036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+0.293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749039"/>
            <a:ext cx="585216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200" i="1">
                <a:solidFill>
                  <a:srgbClr val="5C6670"/>
                </a:solidFill>
                <a:latin typeface="Calibri"/>
              </a:rPr>
              <a:t>Round-15 absorption F1 across the 2×2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2200" b="1">
                <a:solidFill>
                  <a:srgbClr val="0F2A57"/>
                </a:solidFill>
                <a:latin typeface="Calibri"/>
              </a:rPr>
              <a:t>Is this just more data?  No.</a:t>
            </a:r>
          </a:p>
          <a:p>
            <a:pPr>
              <a:spcBef>
                <a:spcPts val="600"/>
              </a:spcBef>
            </a:pPr>
            <a:r>
              <a:rPr sz="1300" i="1">
                <a:solidFill>
                  <a:srgbClr val="5C6670"/>
                </a:solidFill>
                <a:latin typeface="Calibri"/>
              </a:rPr>
              <a:t>K=5 conditions see 5× the per-round training data, so a 'data dominates' story would predict K=5 wins on its own.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 (a):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0.089</a:t>
            </a:r>
            <a:r>
              <a:rPr sz="1100" i="1">
                <a:solidFill>
                  <a:srgbClr val="5C6670"/>
                </a:solidFill>
                <a:latin typeface="Calibri"/>
              </a:rPr>
              <a:t>   K=1 baseline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+ 5× paraphrastic data  (b):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0.125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+0.036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SFT + KL preservation  (c):  </a:t>
            </a:r>
            <a:r>
              <a:rPr sz="2000" b="1">
                <a:solidFill>
                  <a:srgbClr val="1F4E90"/>
                </a:solidFill>
                <a:latin typeface="Calibri"/>
              </a:rPr>
              <a:t>0.118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+0.029  (small)</a:t>
            </a:r>
          </a:p>
          <a:p>
            <a:pPr>
              <a:spcBef>
                <a:spcPts val="7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5× data + KL  (d):  </a:t>
            </a:r>
            <a:r>
              <a:rPr sz="2000" b="1">
                <a:solidFill>
                  <a:srgbClr val="1F8E4F"/>
                </a:solidFill>
                <a:latin typeface="Calibri"/>
              </a:rPr>
              <a:t>0.411</a:t>
            </a:r>
            <a:r>
              <a:rPr sz="1100" i="1">
                <a:solidFill>
                  <a:srgbClr val="5C6670"/>
                </a:solidFill>
                <a:latin typeface="Calibri"/>
              </a:rPr>
              <a:t>   Δ = +0.322  ★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Naive additive prediction:  </a:t>
            </a:r>
            <a:r>
              <a:rPr sz="1800" b="1">
                <a:solidFill>
                  <a:srgbClr val="5C6670"/>
                </a:solidFill>
                <a:latin typeface="Calibri"/>
              </a:rPr>
              <a:t>+0.065</a:t>
            </a:r>
          </a:p>
          <a:p>
            <a:r>
              <a:rPr sz="1400">
                <a:solidFill>
                  <a:srgbClr val="232A33"/>
                </a:solidFill>
                <a:latin typeface="Calibri"/>
              </a:rPr>
              <a:t>Observed combined:  </a:t>
            </a:r>
            <a:r>
              <a:rPr sz="2000" b="1">
                <a:solidFill>
                  <a:srgbClr val="1F8E4F"/>
                </a:solidFill>
                <a:latin typeface="Calibri"/>
              </a:rPr>
              <a:t>+0.322</a:t>
            </a:r>
            <a:r>
              <a:rPr sz="1400" i="1">
                <a:solidFill>
                  <a:srgbClr val="1F8E4F"/>
                </a:solidFill>
                <a:latin typeface="Calibri"/>
              </a:rPr>
              <a:t>   →   4.93× synergy ratio</a:t>
            </a:r>
          </a:p>
          <a:p>
            <a:pPr>
              <a:spcBef>
                <a:spcPts val="1000"/>
              </a:spcBef>
            </a:pPr>
            <a:r>
              <a:rPr sz="1300" i="1">
                <a:solidFill>
                  <a:srgbClr val="232A33"/>
                </a:solidFill>
                <a:latin typeface="Calibri"/>
              </a:rPr>
              <a:t>5× data alone barely beats naive SFT (0.089 → 0.125).  The cross-coupling is the active mechanism, not the data volume.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Ruling out the 'just more data' explanation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1005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600">
                <a:solidFill>
                  <a:srgbClr val="232A33"/>
                </a:solidFill>
                <a:latin typeface="Calibri"/>
              </a:rPr>
              <a:t>To rule out 'data dominates,' hold data volume fixed and toggle KL preservation. </a:t>
            </a:r>
            <a:r>
              <a:rPr sz="1600" i="1">
                <a:solidFill>
                  <a:srgbClr val="232A33"/>
                </a:solidFill>
                <a:latin typeface="Calibri"/>
              </a:rPr>
              <a:t>If KL contributed a fixed lift independent of data volume, both rows below would show similar Δ abs F1.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286000"/>
          <a:ext cx="1106424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377440"/>
                <a:gridCol w="2377440"/>
                <a:gridCol w="265176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Contrast (compute-matched)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Data volume held at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 abs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Effect of adding KL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(c) − (a):  KL added on top of K=1 data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K=1 (200 entries / round)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 i="0">
                          <a:solidFill>
                            <a:srgbClr val="1F4E90"/>
                          </a:solidFill>
                          <a:latin typeface="Calibri"/>
                        </a:rPr>
                        <a:t>+0.029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1">
                          <a:solidFill>
                            <a:srgbClr val="5C6670"/>
                          </a:solidFill>
                          <a:latin typeface="Calibri"/>
                        </a:rPr>
                        <a:t>small lift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232A33"/>
                          </a:solidFill>
                          <a:latin typeface="Calibri"/>
                        </a:rPr>
                        <a:t>(d) − (b):  KL added on top of K=5 data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232A33"/>
                          </a:solidFill>
                          <a:latin typeface="Calibri"/>
                        </a:rPr>
                        <a:t>K=5 (1000 entries / round)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200" b="1" i="0">
                          <a:solidFill>
                            <a:srgbClr val="1F8E4F"/>
                          </a:solidFill>
                          <a:latin typeface="Calibri"/>
                        </a:rPr>
                        <a:t>+0.286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F8E4F"/>
                          </a:solidFill>
                          <a:latin typeface="Calibri"/>
                        </a:rPr>
                        <a:t>≈10× larger</a:t>
                      </a:r>
                    </a:p>
                  </a:txBody>
                  <a:tcPr marL="54864" marR="54864" marT="36576" marB="36576" anchor="ctr">
                    <a:solidFill>
                      <a:srgbClr val="E8F2E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572000"/>
            <a:ext cx="1106424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Calibri"/>
              </a:rPr>
              <a:t>Conclusion:  </a:t>
            </a:r>
            <a:r>
              <a:rPr sz="1800">
                <a:solidFill>
                  <a:srgbClr val="232A33"/>
                </a:solidFill>
                <a:latin typeface="Calibri"/>
              </a:rPr>
              <a:t>KL is ~10× more effective when paired with K=5 data than added on top of K=1 data alone.</a:t>
            </a:r>
          </a:p>
          <a:p>
            <a:pPr>
              <a:spcBef>
                <a:spcPts val="600"/>
              </a:spcBef>
            </a:pPr>
            <a:r>
              <a:rPr sz="1400" i="1">
                <a:solidFill>
                  <a:srgbClr val="232A33"/>
                </a:solidFill>
                <a:latin typeface="Calibri"/>
              </a:rPr>
              <a:t>This is the signature of an interaction effect, not a data-volume effect.  More data alone gives +0.036 (b) − (a); more data plus KL gives +0.322.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Guardrails: the lift is not bought through task degradation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Preservation R@10 (does the model still emit useful QD sub-queries?) and locality F1 (do unrelated facts degrade?) are stable across all five conditions.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74320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Preservation R@10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Locality F1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4864" marR="54864" marT="36576" marB="36576" anchor="ctr">
                    <a:solidFill>
                      <a:srgbClr val="0F2A5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(a)  naive_sft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0.243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(b)  aug_sft_k5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0.267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(c)  kl_reg_sft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0.048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(d)  aug_kl_k1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0.079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7F9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(e)  dsae_lite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0.236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0.080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232A33"/>
                          </a:solidFill>
                          <a:latin typeface="Calibri"/>
                        </a:rPr>
                        <a:t>no degradation</a:t>
                      </a:r>
                    </a:p>
                  </a:txBody>
                  <a:tcPr marL="54864" marR="54864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029200"/>
            <a:ext cx="11064240" cy="12801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>
                <a:solidFill>
                  <a:srgbClr val="232A33"/>
                </a:solidFill>
                <a:latin typeface="Calibri"/>
              </a:rPr>
              <a:t>Spread on each guardrail axis is ~0.03 — the absorption signal (~0.32 spread) is an order of magnitude larger than any task-degradation or off-target effect.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Three negative results that constrain the design 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21208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COPR (continual preference alignment) does not port to fact injection.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kl_reg_sft wins absorption against copr_gold_injection in 11 of 14 contested rounds. COPR draws K=8 candidate responses per fact (here K = number of self-sampled candidates) and ranks them via MSE; on novel facts, the K=8 candidates all land below a usable F1 threshold (the K-sample-all-wrong pathology), so the rank fit reinforces plausible-but-wrong answers. Gold injection collapses the method toward cross-entropy at 10–12× per-round compute.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V-REx at K=2 prompt formats is theoretically degenerate.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Here K = number of prompt-format environments (a different K from the augmentation K — this is the IRM/V-REx sense). IRM-family penalties require ≥3 environments (Arjovsky 2019; Rosenfeld 2021; Ahuja 2021). At K=2 the variance term reduces to a pairwise scalar consistency satisfiable by any equalizing solution. Empirically: +0.014 QD F1, within run-to-run noise.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Format diversity without an explicit regularizer actively hurts.</a:t>
            </a:r>
          </a:p>
          <a:p>
            <a:pPr lvl="1">
              <a:lnSpc>
                <a:spcPct val="113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–  </a:t>
            </a:r>
            <a:r>
              <a:rPr sz="1500">
                <a:solidFill>
                  <a:srgbClr val="232A33"/>
                </a:solidFill>
                <a:latin typeface="Calibri"/>
              </a:rPr>
              <a:t>Plain mixed-format SFT widens the format gap to 0.100 vs single-format kl_reg_sft 0.072. Format mixing in continual training requires curriculum, unified rewriting, or — as we show in §4 — a preservation-side regularizer paired with K=5 augmentation on the injection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Symmetric extension fails: K=5 KL preservation adds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r>
              <a:rPr sz="1500" b="1">
                <a:solidFill>
                  <a:srgbClr val="1F4E90"/>
                </a:solidFill>
                <a:latin typeface="Calibri"/>
              </a:rPr>
              <a:t>Hypothesis: </a:t>
            </a:r>
            <a:r>
              <a:rPr sz="1500">
                <a:solidFill>
                  <a:srgbClr val="232A33"/>
                </a:solidFill>
                <a:latin typeface="Calibri"/>
              </a:rPr>
              <a:t>single-format KL preservation might fail to detect format-selective forgetting. Augmenting the preservation side with K=5 framings should catch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2011680"/>
          </a:xfrm>
          <a:prstGeom prst="rect">
            <a:avLst/>
          </a:prstGeom>
          <a:solidFill>
            <a:srgbClr val="F7F9FC"/>
          </a:solidFill>
          <a:ln w="12700">
            <a:solidFill>
              <a:srgbClr val="CFD8E3"/>
            </a:solidFill>
          </a:ln>
        </p:spPr>
        <p:txBody>
          <a:bodyPr wrap="square" lIns="45720" rIns="45720" tIns="27432" bIns="27432">
            <a:spAutoFit/>
          </a:bodyPr>
          <a:lstStyle/>
          <a:p>
            <a:r>
              <a:rPr sz="1300" b="1">
                <a:solidFill>
                  <a:srgbClr val="1F4E90"/>
                </a:solidFill>
                <a:latin typeface="Calibri"/>
              </a:rPr>
              <a:t>The K=5 preservation framings </a:t>
            </a:r>
            <a:r>
              <a:rPr sz="1200" i="1">
                <a:solidFill>
                  <a:srgbClr val="232A33"/>
                </a:solidFill>
                <a:latin typeface="Calibri"/>
              </a:rPr>
              <a:t>applied to the same task prompt   "What should I know about Acme Corp's recent activity?"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Original:  </a:t>
            </a:r>
            <a:r>
              <a:rPr sz="1000">
                <a:solidFill>
                  <a:srgbClr val="232A33"/>
                </a:solidFill>
                <a:latin typeface="Consolas"/>
              </a:rPr>
              <a:t>[system: QD-decomposer]  [user: What should I know about Acme Corp's recent activity?]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Bare: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What should I know about Acme Corp's recent activity?]   (no system prompt)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Analyst: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You are a financial analyst. Answer concisely: What should I know about Acme Corp's recent activity?]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Detailed: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Given the following question, provide a detailed response: What should I know about Acme Corp's recent activity?]</a:t>
            </a:r>
          </a:p>
          <a:p>
            <a:pPr>
              <a:spcBef>
                <a:spcPts val="200"/>
              </a:spcBef>
            </a:pPr>
            <a:r>
              <a:rPr sz="1100" b="1">
                <a:solidFill>
                  <a:srgbClr val="1F4E90"/>
                </a:solidFill>
                <a:latin typeface="Calibri"/>
              </a:rPr>
              <a:t>  Request:  </a:t>
            </a:r>
            <a:r>
              <a:rPr sz="1000">
                <a:solidFill>
                  <a:srgbClr val="232A33"/>
                </a:solidFill>
                <a:latin typeface="Consolas"/>
              </a:rPr>
              <a:t>[user: Question: What should I know about Acme Corp's recent activity?  Please provide your analysis.]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611880"/>
            <a:ext cx="9418320" cy="1280160"/>
          </a:xfrm>
          <a:prstGeom prst="rect">
            <a:avLst/>
          </a:prstGeom>
          <a:solidFill>
            <a:srgbClr val="FDF7EF"/>
          </a:solidFill>
          <a:ln w="12700">
            <a:solidFill>
              <a:srgbClr val="E8C89C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C0392B"/>
                </a:solidFill>
                <a:latin typeface="Calibri"/>
              </a:rPr>
              <a:t>Result:  (e) − (d)  =  −0.006  at round 15</a:t>
            </a:r>
          </a:p>
          <a:p>
            <a:pPr algn="ctr">
              <a:spcBef>
                <a:spcPts val="600"/>
              </a:spcBef>
            </a:pPr>
            <a:r>
              <a:rPr sz="1400">
                <a:solidFill>
                  <a:srgbClr val="232A33"/>
                </a:solidFill>
                <a:latin typeface="Calibri"/>
              </a:rPr>
              <a:t>Trajectory Δ = −0.004.   95% interval [−0.030, +0.018] straddles zero.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64240" cy="13716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The active ingredient is K=5 injection × any KL anchor — not K=5 on both sides.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Why: K=5 augmentation on the injection side already broadcasts each update across format directions of the gradient; LoRA's update subspace is shared across formats, so single-framing KL implicitly anchors all directions the K=5 update can push.</a:t>
            </a:r>
          </a:p>
          <a:p>
            <a:pPr>
              <a:lnSpc>
                <a:spcPct val="113000"/>
              </a:lnSpc>
              <a:spcAft>
                <a:spcPts val="600"/>
              </a:spcAft>
            </a:pPr>
            <a:r>
              <a:rPr sz="1300" b="1">
                <a:solidFill>
                  <a:srgbClr val="1F4E90"/>
                </a:solidFill>
                <a:latin typeface="Calibri"/>
              </a:rPr>
              <a:t>•  </a:t>
            </a:r>
            <a:r>
              <a:rPr sz="1300">
                <a:solidFill>
                  <a:srgbClr val="232A33"/>
                </a:solidFill>
                <a:latin typeface="Calibri"/>
              </a:rPr>
              <a:t>Caveat: this conjecture leans on LoRA's shared low-rank update subspace. At full fine-tuning the symmetric extension may earn its keep — not validated.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1554480"/>
          </a:xfrm>
          <a:prstGeom prst="rect">
            <a:avLst/>
          </a:prstGeom>
          <a:solidFill>
            <a:srgbClr val="E8F2E8"/>
          </a:solidFill>
          <a:ln w="12700">
            <a:solidFill>
              <a:srgbClr val="1F8E4F"/>
            </a:solidFill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i="1">
                <a:solidFill>
                  <a:srgbClr val="232A33"/>
                </a:solidFill>
                <a:latin typeface="Calibri"/>
              </a:rPr>
              <a:t>For continual LoRA fact injection in task-tuned LLMs:</a:t>
            </a:r>
          </a:p>
          <a:p>
            <a:pPr algn="ctr">
              <a:spcBef>
                <a:spcPts val="800"/>
              </a:spcBef>
            </a:pPr>
            <a:r>
              <a:rPr sz="2200" b="1">
                <a:solidFill>
                  <a:srgbClr val="1F8E4F"/>
                </a:solidFill>
                <a:latin typeface="Calibri"/>
              </a:rPr>
              <a:t>K=5 paraphrastic augmentation on the injection side  +  K=1 KL preservation against a per-round frozen reference</a:t>
            </a:r>
          </a:p>
          <a:p>
            <a:pPr algn="ctr">
              <a:spcBef>
                <a:spcPts val="400"/>
              </a:spcBef>
            </a:pPr>
            <a:r>
              <a:rPr sz="1400" i="1">
                <a:solidFill>
                  <a:srgbClr val="5C6670"/>
                </a:solidFill>
                <a:latin typeface="Calibri"/>
              </a:rPr>
              <a:t>( aug_kl_k1 — condition (d) 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1064240" cy="32918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Use K=5 paraphrastic augmentation on the injection side. Don't rely on K=1 (single-format) injection alone.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Pair it with standard K=1 KL preservation against a per-round frozen reference. Don't push K=5 onto the preservation side at LoRA scale — it adds noise without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COPR for fact injection — the K-sample-all-wrong pathology breaks the assumption that the candidate pool contains usable signal.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Don't use OOD regularization at K=2 environments — theoretically degenerate per Arjovsky / Rosenfeld / Ahuja, empirically null.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cross-coupling is the active ingredient. Either ingredient alone gives ~+0.03; together they give +0.322 (4.93× super-linear).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5943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Limitations and follow-ups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1064240" cy="530352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Single model, single scale. Qwen3-4B at LoRA r=16 only. Synergy magnitude likely shrinks at 7–8B (~15–20 GPU-h follow-up).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Two seeds for the headline cells, one calibration seed. (e) vs (d) null is robust under conservative non-parametric intervals; a 3rd seed is in progress and would tighten bounds.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The mechanism is hypothesized, not proven. Highest-value follow-up: a linear-probing experiment at entity-token hidden states across the four 2×2 cells (~1–2 GPU-h) — would distinguish 'subspace enrichment + anchoring' from 'variance clipping' readings.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K only tested at 5 on the injection side. Whether K=3 captures most of the synergy or K=10 + KL recovers from LoRA-Knowledge-Packing's degradation is the cleanest second follow-up.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Compositional / ripple-effect gap unsolved by every method tested. Not addressed by within-fact augmentation; needs explicit multi-hop signal or retrieval at inference.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b="1">
                <a:solidFill>
                  <a:srgbClr val="1F4E90"/>
                </a:solidFill>
                <a:latin typeface="Calibri"/>
              </a:rPr>
              <a:t>•  </a:t>
            </a:r>
            <a:r>
              <a:rPr sz="1500">
                <a:solidFill>
                  <a:srgbClr val="232A33"/>
                </a:solidFill>
                <a:latin typeface="Calibri"/>
              </a:rPr>
              <a:t>Setting matches industrial practice but transfer beyond LoRA is principled, not validated. The synergy direction should extend to full FT; the (e) vs (d) null specifically may not.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0F2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606040"/>
            <a:ext cx="11064240" cy="18288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ctr">
              <a:spcBef>
                <a:spcPts val="2000"/>
              </a:spcBef>
            </a:pPr>
            <a:r>
              <a:rPr sz="2200" i="1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600">
                <a:solidFill>
                  <a:srgbClr val="232A33"/>
                </a:solidFill>
                <a:latin typeface="Calibri"/>
              </a:rPr>
              <a:t>Code, configs, and raw artifacts:  github.com/jeremiahmao/still-on-task-llm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000">
                <a:solidFill>
                  <a:srgbClr val="5C6670"/>
                </a:solidFill>
                <a:latin typeface="Calibri"/>
              </a:rPr>
              <a:t>COMS 6998   ·   Jeremiah Mao, Mateo Juliani</a:t>
            </a:r>
          </a:p>
          <a:p>
            <a:pPr algn="r"/>
          </a:p>
        </p:txBody>
      </p:sp>
      <p:sp>
        <p:nvSpPr>
          <p:cNvPr id="6" name="TextBox 5"/>
          <p:cNvSpPr txBox="1"/>
          <p:nvPr/>
        </p:nvSpPr>
        <p:spPr>
          <a:xfrm>
            <a:off x="10515600" y="644652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1000">
                <a:solidFill>
                  <a:srgbClr val="5C6670"/>
                </a:solidFill>
                <a:latin typeface="Calibri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